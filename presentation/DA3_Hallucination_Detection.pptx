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sldIdLst>
    <p:sldId id="256" r:id="rId2"/>
    <p:sldId id="257" r:id="rId9"/>
    <p:sldId id="258" r:id="rId10"/>
    <p:sldId id="259" r:id="rId11"/>
    <p:sldId id="260" r:id="rId12"/>
    <p:sldId id="261" r:id="rId13"/>
    <p:sldId id="262" r:id="rId14"/>
    <p:sldId id="263" r:id="rId7"/>
    <p:sldId id="264" r:id="rId6"/>
    <p:sldId id="265" r:id="rId5"/>
    <p:sldId id="266" r:id="rId4"/>
    <p:sldId id="267" r:id="rId3"/>
    <p:sldId id="268" r:id="rId20"/>
    <p:sldId id="269" r:id="rId21"/>
    <p:sldId id="270" r:id="rId22"/>
    <p:sldId id="271" r:id="rId23"/>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87" d="100"/>
          <a:sy n="87" d="100"/>
        </p:scale>
        <p:origin x="52" y="5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12.xml"/><Relationship Id="rId4" Type="http://schemas.openxmlformats.org/officeDocument/2006/relationships/slide" Target="slides/slide11.xml"/><Relationship Id="rId5" Type="http://schemas.openxmlformats.org/officeDocument/2006/relationships/slide" Target="slides/slide10.xml"/><Relationship Id="rId6" Type="http://schemas.openxmlformats.org/officeDocument/2006/relationships/slide" Target="slides/slide9.xml"/><Relationship Id="rId7" Type="http://schemas.openxmlformats.org/officeDocument/2006/relationships/slide" Target="slides/slide8.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 Id="rId19" Type="http://schemas.microsoft.com/office/2016/11/relationships/changesInfo" Target="changesInfos/changesInfo1.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Goutham Krishna" userId="b04ef9d9e576f99b" providerId="LiveId" clId="{2D0296AB-E777-4106-937C-92CE98DC1EAE}"/>
    <pc:docChg chg="undo custSel addSld modSld">
      <pc:chgData name="Goutham Krishna" userId="b04ef9d9e576f99b" providerId="LiveId" clId="{2D0296AB-E777-4106-937C-92CE98DC1EAE}" dt="2026-08-21T09:02:02.527" v="49" actId="1076"/>
      <pc:docMkLst>
        <pc:docMk/>
      </pc:docMkLst>
      <pc:sldChg chg="modSp mod">
        <pc:chgData name="Goutham Krishna" userId="b04ef9d9e576f99b" providerId="LiveId" clId="{2D0296AB-E777-4106-937C-92CE98DC1EAE}" dt="2026-08-21T08:59:18.760" v="8" actId="20577"/>
        <pc:sldMkLst>
          <pc:docMk/>
          <pc:sldMk cId="0" sldId="256"/>
        </pc:sldMkLst>
        <pc:spChg chg="mod">
          <ac:chgData name="Goutham Krishna" userId="b04ef9d9e576f99b" providerId="LiveId" clId="{2D0296AB-E777-4106-937C-92CE98DC1EAE}" dt="2026-08-21T08:59:18.760" v="8" actId="20577"/>
          <ac:spMkLst>
            <pc:docMk/>
            <pc:sldMk cId="0" sldId="256"/>
            <ac:spMk id="4" creationId="{00000000-0000-0000-0000-000000000000}"/>
          </ac:spMkLst>
        </pc:spChg>
      </pc:sldChg>
      <pc:sldChg chg="modSp mod">
        <pc:chgData name="Goutham Krishna" userId="b04ef9d9e576f99b" providerId="LiveId" clId="{2D0296AB-E777-4106-937C-92CE98DC1EAE}" dt="2026-08-21T08:59:40.733" v="16" actId="20577"/>
        <pc:sldMkLst>
          <pc:docMk/>
          <pc:sldMk cId="0" sldId="257"/>
        </pc:sldMkLst>
        <pc:spChg chg="mod">
          <ac:chgData name="Goutham Krishna" userId="b04ef9d9e576f99b" providerId="LiveId" clId="{2D0296AB-E777-4106-937C-92CE98DC1EAE}" dt="2026-08-21T08:59:40.733" v="16" actId="20577"/>
          <ac:spMkLst>
            <pc:docMk/>
            <pc:sldMk cId="0" sldId="257"/>
            <ac:spMk id="10" creationId="{00000000-0000-0000-0000-000000000000}"/>
          </ac:spMkLst>
        </pc:spChg>
      </pc:sldChg>
      <pc:sldChg chg="modSp mod">
        <pc:chgData name="Goutham Krishna" userId="b04ef9d9e576f99b" providerId="LiveId" clId="{2D0296AB-E777-4106-937C-92CE98DC1EAE}" dt="2026-08-21T09:00:08.846" v="22" actId="20577"/>
        <pc:sldMkLst>
          <pc:docMk/>
          <pc:sldMk cId="0" sldId="259"/>
        </pc:sldMkLst>
        <pc:spChg chg="mod">
          <ac:chgData name="Goutham Krishna" userId="b04ef9d9e576f99b" providerId="LiveId" clId="{2D0296AB-E777-4106-937C-92CE98DC1EAE}" dt="2026-08-21T09:00:01.884" v="19" actId="14100"/>
          <ac:spMkLst>
            <pc:docMk/>
            <pc:sldMk cId="0" sldId="259"/>
            <ac:spMk id="3" creationId="{00000000-0000-0000-0000-000000000000}"/>
          </ac:spMkLst>
        </pc:spChg>
        <pc:spChg chg="mod">
          <ac:chgData name="Goutham Krishna" userId="b04ef9d9e576f99b" providerId="LiveId" clId="{2D0296AB-E777-4106-937C-92CE98DC1EAE}" dt="2026-08-21T09:00:01.884" v="19" actId="14100"/>
          <ac:spMkLst>
            <pc:docMk/>
            <pc:sldMk cId="0" sldId="259"/>
            <ac:spMk id="5" creationId="{00000000-0000-0000-0000-000000000000}"/>
          </ac:spMkLst>
        </pc:spChg>
        <pc:spChg chg="mod">
          <ac:chgData name="Goutham Krishna" userId="b04ef9d9e576f99b" providerId="LiveId" clId="{2D0296AB-E777-4106-937C-92CE98DC1EAE}" dt="2026-08-21T09:00:01.884" v="19" actId="14100"/>
          <ac:spMkLst>
            <pc:docMk/>
            <pc:sldMk cId="0" sldId="259"/>
            <ac:spMk id="7" creationId="{00000000-0000-0000-0000-000000000000}"/>
          </ac:spMkLst>
        </pc:spChg>
        <pc:spChg chg="mod">
          <ac:chgData name="Goutham Krishna" userId="b04ef9d9e576f99b" providerId="LiveId" clId="{2D0296AB-E777-4106-937C-92CE98DC1EAE}" dt="2026-08-21T09:00:01.884" v="19" actId="14100"/>
          <ac:spMkLst>
            <pc:docMk/>
            <pc:sldMk cId="0" sldId="259"/>
            <ac:spMk id="9" creationId="{00000000-0000-0000-0000-000000000000}"/>
          </ac:spMkLst>
        </pc:spChg>
        <pc:spChg chg="mod">
          <ac:chgData name="Goutham Krishna" userId="b04ef9d9e576f99b" providerId="LiveId" clId="{2D0296AB-E777-4106-937C-92CE98DC1EAE}" dt="2026-08-21T09:00:01.884" v="19" actId="14100"/>
          <ac:spMkLst>
            <pc:docMk/>
            <pc:sldMk cId="0" sldId="259"/>
            <ac:spMk id="11" creationId="{00000000-0000-0000-0000-000000000000}"/>
          </ac:spMkLst>
        </pc:spChg>
        <pc:spChg chg="mod">
          <ac:chgData name="Goutham Krishna" userId="b04ef9d9e576f99b" providerId="LiveId" clId="{2D0296AB-E777-4106-937C-92CE98DC1EAE}" dt="2026-08-21T09:00:04.781" v="20" actId="14100"/>
          <ac:spMkLst>
            <pc:docMk/>
            <pc:sldMk cId="0" sldId="259"/>
            <ac:spMk id="13" creationId="{00000000-0000-0000-0000-000000000000}"/>
          </ac:spMkLst>
        </pc:spChg>
        <pc:spChg chg="mod">
          <ac:chgData name="Goutham Krishna" userId="b04ef9d9e576f99b" providerId="LiveId" clId="{2D0296AB-E777-4106-937C-92CE98DC1EAE}" dt="2026-08-21T09:00:08.846" v="22" actId="20577"/>
          <ac:spMkLst>
            <pc:docMk/>
            <pc:sldMk cId="0" sldId="259"/>
            <ac:spMk id="14" creationId="{00000000-0000-0000-0000-000000000000}"/>
          </ac:spMkLst>
        </pc:spChg>
      </pc:sldChg>
      <pc:sldChg chg="modSp mod">
        <pc:chgData name="Goutham Krishna" userId="b04ef9d9e576f99b" providerId="LiveId" clId="{2D0296AB-E777-4106-937C-92CE98DC1EAE}" dt="2026-08-21T09:00:22.373" v="32" actId="20577"/>
        <pc:sldMkLst>
          <pc:docMk/>
          <pc:sldMk cId="0" sldId="260"/>
        </pc:sldMkLst>
        <pc:spChg chg="mod">
          <ac:chgData name="Goutham Krishna" userId="b04ef9d9e576f99b" providerId="LiveId" clId="{2D0296AB-E777-4106-937C-92CE98DC1EAE}" dt="2026-08-21T09:00:22.373" v="32" actId="20577"/>
          <ac:spMkLst>
            <pc:docMk/>
            <pc:sldMk cId="0" sldId="260"/>
            <ac:spMk id="3" creationId="{00000000-0000-0000-0000-000000000000}"/>
          </ac:spMkLst>
        </pc:spChg>
      </pc:sldChg>
      <pc:sldChg chg="modSp mod">
        <pc:chgData name="Goutham Krishna" userId="b04ef9d9e576f99b" providerId="LiveId" clId="{2D0296AB-E777-4106-937C-92CE98DC1EAE}" dt="2026-08-21T09:00:36.662" v="33" actId="122"/>
        <pc:sldMkLst>
          <pc:docMk/>
          <pc:sldMk cId="0" sldId="262"/>
        </pc:sldMkLst>
        <pc:spChg chg="mod">
          <ac:chgData name="Goutham Krishna" userId="b04ef9d9e576f99b" providerId="LiveId" clId="{2D0296AB-E777-4106-937C-92CE98DC1EAE}" dt="2026-08-21T09:00:36.662" v="33" actId="122"/>
          <ac:spMkLst>
            <pc:docMk/>
            <pc:sldMk cId="0" sldId="262"/>
            <ac:spMk id="4" creationId="{00000000-0000-0000-0000-000000000000}"/>
          </ac:spMkLst>
        </pc:spChg>
        <pc:spChg chg="mod">
          <ac:chgData name="Goutham Krishna" userId="b04ef9d9e576f99b" providerId="LiveId" clId="{2D0296AB-E777-4106-937C-92CE98DC1EAE}" dt="2026-08-21T09:00:36.662" v="33" actId="122"/>
          <ac:spMkLst>
            <pc:docMk/>
            <pc:sldMk cId="0" sldId="262"/>
            <ac:spMk id="8" creationId="{00000000-0000-0000-0000-000000000000}"/>
          </ac:spMkLst>
        </pc:spChg>
      </pc:sldChg>
      <pc:sldChg chg="modSp mod">
        <pc:chgData name="Goutham Krishna" userId="b04ef9d9e576f99b" providerId="LiveId" clId="{2D0296AB-E777-4106-937C-92CE98DC1EAE}" dt="2026-08-21T09:00:51.528" v="34" actId="20577"/>
        <pc:sldMkLst>
          <pc:docMk/>
          <pc:sldMk cId="0" sldId="264"/>
        </pc:sldMkLst>
        <pc:spChg chg="mod">
          <ac:chgData name="Goutham Krishna" userId="b04ef9d9e576f99b" providerId="LiveId" clId="{2D0296AB-E777-4106-937C-92CE98DC1EAE}" dt="2026-08-21T09:00:51.528" v="34" actId="20577"/>
          <ac:spMkLst>
            <pc:docMk/>
            <pc:sldMk cId="0" sldId="264"/>
            <ac:spMk id="3" creationId="{00000000-0000-0000-0000-000000000000}"/>
          </ac:spMkLst>
        </pc:spChg>
      </pc:sldChg>
      <pc:sldChg chg="addSp delSp modSp new mod">
        <pc:chgData name="Goutham Krishna" userId="b04ef9d9e576f99b" providerId="LiveId" clId="{2D0296AB-E777-4106-937C-92CE98DC1EAE}" dt="2026-08-21T09:02:02.527" v="49" actId="1076"/>
        <pc:sldMkLst>
          <pc:docMk/>
          <pc:sldMk cId="3146776554" sldId="268"/>
        </pc:sldMkLst>
        <pc:picChg chg="add del mod">
          <ac:chgData name="Goutham Krishna" userId="b04ef9d9e576f99b" providerId="LiveId" clId="{2D0296AB-E777-4106-937C-92CE98DC1EAE}" dt="2026-08-21T09:01:15.799" v="41" actId="22"/>
          <ac:picMkLst>
            <pc:docMk/>
            <pc:sldMk cId="3146776554" sldId="268"/>
            <ac:picMk id="3" creationId="{222E4EC7-35D2-6112-7795-CD2EAEDC7814}"/>
          </ac:picMkLst>
        </pc:picChg>
        <pc:picChg chg="add mod">
          <ac:chgData name="Goutham Krishna" userId="b04ef9d9e576f99b" providerId="LiveId" clId="{2D0296AB-E777-4106-937C-92CE98DC1EAE}" dt="2026-08-21T09:01:54.542" v="44" actId="1076"/>
          <ac:picMkLst>
            <pc:docMk/>
            <pc:sldMk cId="3146776554" sldId="268"/>
            <ac:picMk id="5" creationId="{20BBA4FC-7F4E-9CF9-CD43-B74AF008662B}"/>
          </ac:picMkLst>
        </pc:picChg>
        <pc:picChg chg="add mod">
          <ac:chgData name="Goutham Krishna" userId="b04ef9d9e576f99b" providerId="LiveId" clId="{2D0296AB-E777-4106-937C-92CE98DC1EAE}" dt="2026-08-21T09:02:02.527" v="49" actId="1076"/>
          <ac:picMkLst>
            <pc:docMk/>
            <pc:sldMk cId="3146776554" sldId="268"/>
            <ac:picMk id="7" creationId="{E1DB8247-5606-5806-5F96-BCAE3F18AF66}"/>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Goutham Krishna and Shubham Khadilkar. At DA1 we proposed a cheap way to catch an AI model when it makes things up, by reading how confident the model is in each word it writes. Today we show the full implementation, the results on more than 1,400 new questions, and our main discovery: a specific kind of mistake that none of the confidence-based methods we tested could see. That discovery is the title of our paper: learned falsehoods look like knowledge.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a language model writes an answer, it assigns a probability to every word it picks. These numbers come for free. Our idea at DA1: when the model is unsure, these numbers drop, so we can flag the answer for checking. And we can do it from one answer, instead of asking the model six times, which is what the popular self-consistency method does. In DA3 we asked three questions: does it work on new questions, which mistakes does it catch and which does it miss, and does the result hold up when we try to break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trusting any result we checked our own DA1 work, and this made the project much stronger. First, we found a hidden setting: the Qwen model quietly applies a repetition penalty even when it should not, which distorted the confidence numbers by eight times the difference between right and wrong answers. Most projects using this library would never notice. Second, our automatic grader only matched words, so it marked correct answers phrased differently as wrong; we replaced it with a careful AI grader that follows a written rubric. Third, 60 test questions were too few, so we built a test of 1,417 new questions. We fixed all three and rebuilt the system.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system we built. The model gives its single most likely answer, with no hidden settings. Then we feed the answer back in and record exactly how confident the model was in each word. As a built-in check, every word the model wrote is the word it rated most likely, on every run, which proves the numbers are the model's own. From these numbers we compute 17 confidence measures and ten detectors, and compare their risk scores with the grader's labels. The right column shows the file that does each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tested three small open AI models that run on our own laptop GPU. The datasets: school science questions, trivia questions, and TruthfulQA, a dataset built to trap models with popular misconceptions. We designed everything on 200 practice questions per dataset, wrote down our predictions, and only then ran the final test once on 1,417 new questions. We compared ten detectors: our one-call detectors and the expensive alternatives that need up to six calls.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main result, for our DA1 detector, on new questions only. Higher bars are better: 0.5 means guessing, 1.0 means perfect. On science questions it scores about 0.7 for all three models, and on trivia up to 0.81. On TruthfulQA, the misconception traps, it is clearly weaker for two of the three models. Explaining why became the main discovery of our project.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the DA1 question. Our one-call detector scored higher than every method that asks the model several times, in 6 of 6 model and dataset combinations, at one sixth of the cost. Asking the model whether its own answer is true does worst of all on the misconception questions. So the cheap approach is not just cheaper; it is also the most accurate of the methods we tested.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are the misconception traps hard? We split the mistakes into two kinds. Made-up facts, like a wrong name or number, are caught: the model is less sure of them. Our three-measure detector does even better here, 0.66–0.82. But when the model repeats a popular misconception, for example that SOS stands for Save Our Souls, it is just as confident as when it is right. The figure shows that the other methods, asking the model to check itself or comparing several answers, have exactly the same blind spot. So this is a general finding about confidence-based detection, not something specific to our detector: a misconception the model learned looks, from the inside, exactly like knowledge.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real examples from the test. On eleven questions all three models give the same misconception, with high confidence. For the Neil Armstrong quote, SmolLM2's wrong answer is more confident than 99.7 percent of all its answers. The model is not unsure; it learned the wrong fact.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surprising result needs strong evidence, so we tried to break it in many different ways. Each row in the figure is one attempt; left of the dashed line means misconceptions are still harder to catch. We matched answer length, controlled for question difficulty and topic, used only positive answers, used a second independent grader trained on human judgements, changed the prompt, and tested a model twice as large. For Qwen and SmolLM2 the finding held in almost every check. For Llama it depends on which grader is used, and we report that openly.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the detector works, we asked what it actually picks up. Mostly, it is question difficulty: a hard question makes every model unsure, and every model more often wrong. Counting how many other models got a question wrong predicts mistakes even better. There is also a real answer-specific part: for the same question, the model's wrong answers are less confident than its right ones.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would this buy a real system? On science questions, skipping the 20 percent of answers the model is least sure about cuts the error rate from 28 to 24 percent. On the misconception traps this does not help: the model's most confident answers are wrong 60 percent of the time, and most of those, 84 to 86 percent, are misconceptions. So these answers need an outside fact-check, for example looking the fact up in a trusted source.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switch to the live demo. First we run the whole system on 200 new questions in about a minute. Then the interactive app: the model answers a question live, each word is coloured by confidence, and the risk score is compared with the test results.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study has a scope, and here is ours. Our grading uses an AI grader, checked against a second, independent grader trained on human ratings; a human check of 120 answers is prepared as the next step. We used models that fit our laptop GPU, up to 3 billion parameters; larger models are next. The stress tests were added after the main test, so we present them as supporting evidence. And we focused on short English question answering.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three contributions. One: a cheap, working detector. With a single model call it beats methods that need six, and catches made-up facts and science mistakes. Two: a clear discovery about its limits: misconceptions the model learned look like knowledge, to every confidence-based method we tested. Three: a rigorous, reproducible system: we found and fixed a hidden bug, wrote down predictions in advance, tested on 1,417 new questions, and published all code and data. The next step is to combine confidence with looking facts 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We are happy to take questions, and we can show any part of the code or the demo again.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p:nvPr/>
        </p:nvSpPr>
        <p:spPr>
          <a:xfrm>
            <a:off x="1007533" y="0"/>
            <a:ext cx="7934348"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8" name="Rectangle 7"/>
          <p:cNvSpPr/>
          <p:nvPr/>
        </p:nvSpPr>
        <p:spPr>
          <a:xfrm>
            <a:off x="8941881"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ctrTitle"/>
          </p:nvPr>
        </p:nvSpPr>
        <p:spPr>
          <a:xfrm>
            <a:off x="2611808" y="3428998"/>
            <a:ext cx="5518066" cy="2268559"/>
          </a:xfrm>
        </p:spPr>
        <p:txBody>
          <a:bodyPr anchor="t">
            <a:normAutofit/>
          </a:bodyPr>
          <a:lstStyle>
            <a:lvl1pPr algn="r">
              <a:defRPr sz="6000"/>
            </a:lvl1pPr>
          </a:lstStyle>
          <a:p>
            <a:r>
              <a:rPr lang="en-US"/>
              <a:t>Click to edit Master title style</a:t>
            </a:r>
            <a:endParaRPr lang="en-US" dirty="0"/>
          </a:p>
        </p:txBody>
      </p:sp>
      <p:sp>
        <p:nvSpPr>
          <p:cNvPr id="3" name="Subtitle 2"/>
          <p:cNvSpPr>
            <a:spLocks noGrp="1"/>
          </p:cNvSpPr>
          <p:nvPr>
            <p:ph type="subTitle" idx="1"/>
          </p:nvPr>
        </p:nvSpPr>
        <p:spPr>
          <a:xfrm>
            <a:off x="2772274" y="2268786"/>
            <a:ext cx="5357600" cy="1160213"/>
          </a:xfrm>
        </p:spPr>
        <p:txBody>
          <a:bodyPr tIns="0" anchor="b">
            <a:normAutofit/>
          </a:bodyPr>
          <a:lstStyle>
            <a:lvl1pPr marL="0" indent="0" algn="r">
              <a:buNone/>
              <a:defRPr sz="1800" b="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rIns="45720"/>
          <a:lstStyle/>
          <a:p>
            <a:fld id="{C1FF6DA9-008F-8B48-92A6-B652298478BF}" type="slidenum">
              <a:rPr lang="en-US" smtClean="0"/>
              <a:t>‹#›</a:t>
            </a:fld>
            <a:endParaRPr lang="en-US"/>
          </a:p>
        </p:txBody>
      </p:sp>
      <p:sp>
        <p:nvSpPr>
          <p:cNvPr id="13" name="TextBox 12"/>
          <p:cNvSpPr txBox="1"/>
          <p:nvPr/>
        </p:nvSpPr>
        <p:spPr>
          <a:xfrm>
            <a:off x="2191282" y="3262852"/>
            <a:ext cx="415636" cy="461665"/>
          </a:xfrm>
          <a:prstGeom prst="rect">
            <a:avLst/>
          </a:prstGeom>
          <a:noFill/>
        </p:spPr>
        <p:txBody>
          <a:bodyPr wrap="square" rtlCol="0">
            <a:spAutoFit/>
          </a:bodyPr>
          <a:lstStyle/>
          <a:p>
            <a:pPr algn="r"/>
            <a:r>
              <a:rPr lang="en-US" sz="2400" dirty="0">
                <a:solidFill>
                  <a:schemeClr val="accent6"/>
                </a:solidFill>
                <a:latin typeface="Wingdings 3" panose="05040102010807070707" pitchFamily="18" charset="2"/>
              </a:rPr>
              <a:t>z</a:t>
            </a:r>
            <a:endParaRPr lang="en-US" sz="24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6897489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9" name="Rectangle 2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Rectangle 8"/>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
        <p:nvSpPr>
          <p:cNvPr id="7" name="TextBox 6"/>
          <p:cNvSpPr txBox="1"/>
          <p:nvPr/>
        </p:nvSpPr>
        <p:spPr>
          <a:xfrm>
            <a:off x="2194943"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398261419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4" name="Rectangle 2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5" name="Rectangle 2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1" name="TextBox 10"/>
          <p:cNvSpPr txBox="1"/>
          <p:nvPr/>
        </p:nvSpPr>
        <p:spPr>
          <a:xfrm>
            <a:off x="2191843" y="296258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3147254"/>
            <a:ext cx="7956560" cy="1424746"/>
          </a:xfrm>
        </p:spPr>
        <p:txBody>
          <a:bodyPr anchor="t">
            <a:normAutofit/>
          </a:bodyPr>
          <a:lstStyle>
            <a:lvl1pPr algn="r">
              <a:defRPr sz="3200"/>
            </a:lvl1pPr>
          </a:lstStyle>
          <a:p>
            <a:r>
              <a:rPr lang="en-US"/>
              <a:t>Click to edit Master title style</a:t>
            </a:r>
            <a:endParaRPr lang="en-US" dirty="0"/>
          </a:p>
        </p:txBody>
      </p:sp>
      <p:sp>
        <p:nvSpPr>
          <p:cNvPr id="3" name="Text Placeholder 2"/>
          <p:cNvSpPr>
            <a:spLocks noGrp="1"/>
          </p:cNvSpPr>
          <p:nvPr>
            <p:ph type="body" idx="1"/>
          </p:nvPr>
        </p:nvSpPr>
        <p:spPr>
          <a:xfrm>
            <a:off x="2773968" y="2268786"/>
            <a:ext cx="7791931" cy="878468"/>
          </a:xfrm>
        </p:spPr>
        <p:txBody>
          <a:bodyPr tIns="0" anchor="b">
            <a:normAutofit/>
          </a:bodyPr>
          <a:lstStyle>
            <a:lvl1pPr marL="0" indent="0" algn="r">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788074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6" name="Rectangle 25"/>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7" name="Rectangle 26"/>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a:xfrm>
            <a:off x="2609873" y="805817"/>
            <a:ext cx="7950984" cy="1081705"/>
          </a:xfrm>
        </p:spPr>
        <p:txBody>
          <a:bodyPr/>
          <a:lstStyle/>
          <a:p>
            <a:r>
              <a:rPr lang="en-US"/>
              <a:t>Click to edit Master title style</a:t>
            </a:r>
            <a:endParaRPr lang="en-US" dirty="0"/>
          </a:p>
        </p:txBody>
      </p:sp>
      <p:sp>
        <p:nvSpPr>
          <p:cNvPr id="3" name="Content Placeholder 2"/>
          <p:cNvSpPr>
            <a:spLocks noGrp="1"/>
          </p:cNvSpPr>
          <p:nvPr>
            <p:ph sz="half" idx="1"/>
          </p:nvPr>
        </p:nvSpPr>
        <p:spPr>
          <a:xfrm>
            <a:off x="2605374" y="2052116"/>
            <a:ext cx="3891960" cy="39978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666636" y="2052114"/>
            <a:ext cx="3894222" cy="39978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
        <p:nvSpPr>
          <p:cNvPr id="10" name="TextBox 9"/>
          <p:cNvSpPr txBox="1"/>
          <p:nvPr/>
        </p:nvSpPr>
        <p:spPr>
          <a:xfrm>
            <a:off x="2196172" y="641223"/>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61580114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0" name="Rectangle 19"/>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1" name="Rectangle 20"/>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2" name="TextBox 11"/>
          <p:cNvSpPr txBox="1"/>
          <p:nvPr/>
        </p:nvSpPr>
        <p:spPr>
          <a:xfrm>
            <a:off x="2193650" y="636424"/>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09873" y="805818"/>
            <a:ext cx="7956560" cy="1078348"/>
          </a:xfrm>
        </p:spPr>
        <p:txBody>
          <a:bodyPr/>
          <a:lstStyle/>
          <a:p>
            <a:r>
              <a:rPr lang="en-US"/>
              <a:t>Click to edit Master title style</a:t>
            </a:r>
            <a:endParaRPr lang="en-US" dirty="0"/>
          </a:p>
        </p:txBody>
      </p:sp>
      <p:sp>
        <p:nvSpPr>
          <p:cNvPr id="3" name="Text Placeholder 2"/>
          <p:cNvSpPr>
            <a:spLocks noGrp="1"/>
          </p:cNvSpPr>
          <p:nvPr>
            <p:ph type="body" idx="1"/>
          </p:nvPr>
        </p:nvSpPr>
        <p:spPr>
          <a:xfrm>
            <a:off x="2609285" y="2052115"/>
            <a:ext cx="3896467"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2609285" y="2851331"/>
            <a:ext cx="3893623"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666634" y="2052115"/>
            <a:ext cx="3899798" cy="713818"/>
          </a:xfrm>
        </p:spPr>
        <p:txBody>
          <a:bodyPr anchor="b">
            <a:noAutofit/>
          </a:bodyPr>
          <a:lstStyle>
            <a:lvl1pPr marL="0" indent="0" algn="l">
              <a:lnSpc>
                <a:spcPct val="100000"/>
              </a:lnSpc>
              <a:buNone/>
              <a:defRPr sz="2200" b="0" cap="none" baseline="0">
                <a:solidFill>
                  <a:schemeClr val="accent6"/>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666635" y="2851331"/>
            <a:ext cx="3899798" cy="307143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5BCAD085-E8A6-8845-BD4E-CB4CCA059FC4}" type="datetimeFigureOut">
              <a:rPr lang="en-US" smtClean="0"/>
              <a:t>8/21/2026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07939031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3" name="Rectangle 12"/>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4" name="Rectangle 13"/>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5BCAD085-E8A6-8845-BD4E-CB4CCA059FC4}" type="datetimeFigureOut">
              <a:rPr lang="en-US" smtClean="0"/>
              <a:t>8/21/2026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
        <p:nvSpPr>
          <p:cNvPr id="8" name="TextBox 7"/>
          <p:cNvSpPr txBox="1"/>
          <p:nvPr/>
        </p:nvSpPr>
        <p:spPr>
          <a:xfrm>
            <a:off x="2196172" y="641226"/>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Tree>
    <p:extLst>
      <p:ext uri="{BB962C8B-B14F-4D97-AF65-F5344CB8AC3E}">
        <p14:creationId xmlns:p14="http://schemas.microsoft.com/office/powerpoint/2010/main" val="23851634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2" name="Rectangle 11"/>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3" name="Rectangle 12"/>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Date Placeholder 1"/>
          <p:cNvSpPr>
            <a:spLocks noGrp="1"/>
          </p:cNvSpPr>
          <p:nvPr>
            <p:ph type="dt" sz="half" idx="10"/>
          </p:nvPr>
        </p:nvSpPr>
        <p:spPr/>
        <p:txBody>
          <a:bodyPr/>
          <a:lstStyle/>
          <a:p>
            <a:fld id="{5BCAD085-E8A6-8845-BD4E-CB4CCA059FC4}" type="datetimeFigureOut">
              <a:rPr lang="en-US" smtClean="0"/>
              <a:t>8/21/2026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4336054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5" name="Rectangle 2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6" name="Rectangle 2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0" name="TextBox 9"/>
          <p:cNvSpPr txBox="1"/>
          <p:nvPr/>
        </p:nvSpPr>
        <p:spPr>
          <a:xfrm>
            <a:off x="1554154"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0323" y="1282451"/>
            <a:ext cx="2664361" cy="1903241"/>
          </a:xfrm>
        </p:spPr>
        <p:txBody>
          <a:bodyPr anchor="b">
            <a:normAutofit/>
          </a:bodyPr>
          <a:lstStyle>
            <a:lvl1pPr algn="l">
              <a:defRPr sz="2400"/>
            </a:lvl1pPr>
          </a:lstStyle>
          <a:p>
            <a:r>
              <a:rPr lang="en-US"/>
              <a:t>Click to edit Master title style</a:t>
            </a:r>
            <a:endParaRPr lang="en-US" dirty="0"/>
          </a:p>
        </p:txBody>
      </p:sp>
      <p:sp>
        <p:nvSpPr>
          <p:cNvPr id="3" name="Content Placeholder 2"/>
          <p:cNvSpPr>
            <a:spLocks noGrp="1"/>
          </p:cNvSpPr>
          <p:nvPr>
            <p:ph idx="1"/>
          </p:nvPr>
        </p:nvSpPr>
        <p:spPr>
          <a:xfrm>
            <a:off x="5120154" y="805818"/>
            <a:ext cx="5446278" cy="5244126"/>
          </a:xfrm>
        </p:spPr>
        <p:txBody>
          <a:bodyPr anchor="ct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970322" y="3186154"/>
            <a:ext cx="2664361" cy="2386397"/>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43717629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9" name="Rectangle 18"/>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0" name="Rectangle 19"/>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 name="Picture Placeholder 2"/>
          <p:cNvSpPr>
            <a:spLocks noGrp="1" noChangeAspect="1"/>
          </p:cNvSpPr>
          <p:nvPr>
            <p:ph type="pic" idx="1"/>
          </p:nvPr>
        </p:nvSpPr>
        <p:spPr>
          <a:xfrm>
            <a:off x="6747062" y="3229"/>
            <a:ext cx="4629734" cy="6858000"/>
          </a:xfrm>
          <a:solidFill>
            <a:schemeClr val="tx1">
              <a:alpha val="10000"/>
            </a:schemeClr>
          </a:solidFill>
          <a:ln w="9525" cap="sq">
            <a:noFill/>
            <a:miter lim="800000"/>
          </a:ln>
          <a:effectLst/>
          <a:scene3d>
            <a:camera prst="orthographicFront"/>
            <a:lightRig rig="twoPt" dir="t">
              <a:rot lat="0" lon="0" rev="7200000"/>
            </a:lightRig>
          </a:scene3d>
          <a:sp3d>
            <a:bevelT w="25400" h="19050"/>
            <a:contourClr>
              <a:srgbClr val="FFFFFF"/>
            </a:contourClr>
          </a:sp3d>
        </p:spPr>
        <p:txBody>
          <a:bodyPr anchor="t">
            <a:normAutofit/>
          </a:bodyPr>
          <a:lstStyle>
            <a:lvl1pPr marL="0" indent="0" algn="ctr">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10" name="TextBox 9"/>
          <p:cNvSpPr txBox="1"/>
          <p:nvPr/>
        </p:nvSpPr>
        <p:spPr>
          <a:xfrm>
            <a:off x="1554686" y="1127550"/>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1971241" y="1282452"/>
            <a:ext cx="3970986" cy="1900473"/>
          </a:xfrm>
        </p:spPr>
        <p:txBody>
          <a:bodyPr anchor="b">
            <a:normAutofit/>
          </a:bodyPr>
          <a:lstStyle>
            <a:lvl1pPr algn="l">
              <a:defRPr sz="3200"/>
            </a:lvl1pPr>
          </a:lstStyle>
          <a:p>
            <a:r>
              <a:rPr lang="en-US"/>
              <a:t>Click to edit Master title style</a:t>
            </a:r>
            <a:endParaRPr lang="en-US" dirty="0"/>
          </a:p>
        </p:txBody>
      </p:sp>
      <p:sp>
        <p:nvSpPr>
          <p:cNvPr id="4" name="Text Placeholder 3"/>
          <p:cNvSpPr>
            <a:spLocks noGrp="1"/>
          </p:cNvSpPr>
          <p:nvPr>
            <p:ph type="body" sz="half" idx="2"/>
          </p:nvPr>
        </p:nvSpPr>
        <p:spPr>
          <a:xfrm>
            <a:off x="1970322" y="3182928"/>
            <a:ext cx="3971874" cy="2386394"/>
          </a:xfrm>
        </p:spPr>
        <p:txBody>
          <a:bodyPr>
            <a:normAutofit/>
          </a:bodyPr>
          <a:lstStyle>
            <a:lvl1pPr marL="0" indent="0" algn="l">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876311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4" name="Rectangle 13"/>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5" name="Rectangle 14"/>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TextBox 8"/>
          <p:cNvSpPr txBox="1"/>
          <p:nvPr/>
        </p:nvSpPr>
        <p:spPr>
          <a:xfrm>
            <a:off x="2194236" y="641225"/>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Title 1"/>
          <p:cNvSpPr>
            <a:spLocks noGrp="1"/>
          </p:cNvSpPr>
          <p:nvPr>
            <p:ph type="title"/>
          </p:nvPr>
        </p:nvSpPr>
        <p:spPr>
          <a:xfrm>
            <a:off x="2611808" y="808056"/>
            <a:ext cx="7954091" cy="1077229"/>
          </a:xfrm>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8589146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5" name="Rectangle 14"/>
          <p:cNvSpPr/>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6" name="Rectangle 15"/>
          <p:cNvSpPr/>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9" name="TextBox 8"/>
          <p:cNvSpPr txBox="1"/>
          <p:nvPr/>
        </p:nvSpPr>
        <p:spPr>
          <a:xfrm rot="5400000">
            <a:off x="10337141" y="416061"/>
            <a:ext cx="415636" cy="369332"/>
          </a:xfrm>
          <a:prstGeom prst="rect">
            <a:avLst/>
          </a:prstGeom>
          <a:noFill/>
        </p:spPr>
        <p:txBody>
          <a:bodyPr wrap="square" rtlCol="0">
            <a:spAutoFit/>
          </a:bodyPr>
          <a:lstStyle/>
          <a:p>
            <a:pPr algn="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p:nvSpPr>
          <p:cNvPr id="2" name="Vertical Title 1"/>
          <p:cNvSpPr>
            <a:spLocks noGrp="1"/>
          </p:cNvSpPr>
          <p:nvPr>
            <p:ph type="title" orient="vert"/>
          </p:nvPr>
        </p:nvSpPr>
        <p:spPr>
          <a:xfrm>
            <a:off x="9239380" y="805818"/>
            <a:ext cx="1326519" cy="5244126"/>
          </a:xfrm>
        </p:spPr>
        <p:txBody>
          <a:bodyPr vert="eaVert"/>
          <a:lstStyle>
            <a:lvl1pPr algn="l">
              <a:defRPr/>
            </a:lvl1pPr>
          </a:lstStyle>
          <a:p>
            <a:r>
              <a:rPr lang="en-US"/>
              <a:t>Click to edit Master title style</a:t>
            </a:r>
            <a:endParaRPr lang="en-US" dirty="0"/>
          </a:p>
        </p:txBody>
      </p:sp>
      <p:sp>
        <p:nvSpPr>
          <p:cNvPr id="3" name="Vertical Text Placeholder 2"/>
          <p:cNvSpPr>
            <a:spLocks noGrp="1"/>
          </p:cNvSpPr>
          <p:nvPr>
            <p:ph type="body" orient="vert" idx="1"/>
          </p:nvPr>
        </p:nvSpPr>
        <p:spPr>
          <a:xfrm>
            <a:off x="2608751" y="970410"/>
            <a:ext cx="6466903" cy="507953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BCAD085-E8A6-8845-BD4E-CB4CCA059FC4}" type="datetimeFigureOut">
              <a:rPr lang="en-US" smtClean="0"/>
              <a:t>8/21/2026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427817732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2.png"/><Relationship Id="rId14" Type="http://schemas.openxmlformats.org/officeDocument/2006/relationships/image" Target="../media/image3.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1"/>
      </p:bgRef>
    </p:bg>
    <p:spTree>
      <p:nvGrpSpPr>
        <p:cNvPr id="1" name=""/>
        <p:cNvGrpSpPr/>
        <p:nvPr/>
      </p:nvGrpSpPr>
      <p:grpSpPr>
        <a:xfrm>
          <a:off x="0" y="0"/>
          <a:ext cx="0" cy="0"/>
          <a:chOff x="0" y="0"/>
          <a:chExt cx="0" cy="0"/>
        </a:xfrm>
      </p:grpSpPr>
      <p:pic>
        <p:nvPicPr>
          <p:cNvPr id="18" name="Picture 17"/>
          <p:cNvPicPr>
            <a:picLocks noChangeAspect="1"/>
          </p:cNvPicPr>
          <p:nvPr/>
        </p:nvPicPr>
        <p:blipFill>
          <a:blip r:embed="rId1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5" name="Picture 14"/>
          <p:cNvPicPr>
            <a:picLocks noChangeAspect="1"/>
          </p:cNvPicPr>
          <p:nvPr/>
        </p:nvPicPr>
        <p:blipFill>
          <a:blip r:embed="rId1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8" name="Rectangle 7"/>
          <p:cNvSpPr/>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 name="Title Placeholder 1"/>
          <p:cNvSpPr>
            <a:spLocks noGrp="1"/>
          </p:cNvSpPr>
          <p:nvPr>
            <p:ph type="title"/>
          </p:nvPr>
        </p:nvSpPr>
        <p:spPr>
          <a:xfrm>
            <a:off x="2611808" y="808056"/>
            <a:ext cx="7958331" cy="1077229"/>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2773599" y="2052116"/>
            <a:ext cx="7796540" cy="39978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810065" y="5270604"/>
            <a:ext cx="2662729" cy="182880"/>
          </a:xfrm>
          <a:prstGeom prst="rect">
            <a:avLst/>
          </a:prstGeom>
        </p:spPr>
        <p:txBody>
          <a:bodyPr vert="horz" lIns="91440" tIns="18288" rIns="91440" bIns="45720" rtlCol="0" anchor="t"/>
          <a:lstStyle>
            <a:lvl1pPr algn="r">
              <a:defRPr sz="800">
                <a:solidFill>
                  <a:schemeClr val="tx1">
                    <a:tint val="75000"/>
                  </a:schemeClr>
                </a:solidFill>
                <a:latin typeface="+mn-lt"/>
              </a:defRPr>
            </a:lvl1pPr>
          </a:lstStyle>
          <a:p>
            <a:fld id="{5BCAD085-E8A6-8845-BD4E-CB4CCA059FC4}" type="datetimeFigureOut">
              <a:rPr lang="en-US" smtClean="0"/>
              <a:t>8/21/2026</a:t>
            </a:fld>
            <a:endParaRPr lang="en-US"/>
          </a:p>
        </p:txBody>
      </p:sp>
      <p:sp>
        <p:nvSpPr>
          <p:cNvPr id="5" name="Footer Placeholder 4"/>
          <p:cNvSpPr>
            <a:spLocks noGrp="1"/>
          </p:cNvSpPr>
          <p:nvPr>
            <p:ph type="ftr" sz="quarter" idx="3"/>
          </p:nvPr>
        </p:nvSpPr>
        <p:spPr>
          <a:xfrm rot="5400000">
            <a:off x="-2237130" y="3661144"/>
            <a:ext cx="5885352" cy="179176"/>
          </a:xfrm>
          <a:prstGeom prst="rect">
            <a:avLst/>
          </a:prstGeom>
        </p:spPr>
        <p:txBody>
          <a:bodyPr vert="horz" lIns="91440" tIns="45720" rIns="91440" bIns="18288" rtlCol="0" anchor="b"/>
          <a:lstStyle>
            <a:lvl1pPr algn="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58407" y="164592"/>
            <a:ext cx="636727" cy="322851"/>
          </a:xfrm>
          <a:prstGeom prst="rect">
            <a:avLst/>
          </a:prstGeom>
        </p:spPr>
        <p:txBody>
          <a:bodyPr vert="horz" lIns="91440" tIns="45720" rIns="45720" bIns="45720" rtlCol="0" anchor="ctr"/>
          <a:lstStyle>
            <a:lvl1pPr algn="r">
              <a:defRPr sz="1800">
                <a:solidFill>
                  <a:schemeClr val="tx1">
                    <a:tint val="75000"/>
                  </a:schemeClr>
                </a:solidFill>
              </a:defRPr>
            </a:lvl1pPr>
          </a:lstStyle>
          <a:p>
            <a:fld id="{C1FF6DA9-008F-8B48-92A6-B652298478BF}" type="slidenum">
              <a:rPr lang="en-US" smtClean="0"/>
              <a:t>‹#›</a:t>
            </a:fld>
            <a:endParaRPr lang="en-US"/>
          </a:p>
        </p:txBody>
      </p:sp>
      <p:sp>
        <p:nvSpPr>
          <p:cNvPr id="57" name="Rectangle 56"/>
          <p:cNvSpPr/>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Tree>
    <p:extLst>
      <p:ext uri="{BB962C8B-B14F-4D97-AF65-F5344CB8AC3E}">
        <p14:creationId xmlns:p14="http://schemas.microsoft.com/office/powerpoint/2010/main" val="2955993974"/>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r" defTabSz="914400" rtl="0" eaLnBrk="1" latinLnBrk="0" hangingPunct="1">
        <a:lnSpc>
          <a:spcPct val="90000"/>
        </a:lnSpc>
        <a:spcBef>
          <a:spcPct val="0"/>
        </a:spcBef>
        <a:buNone/>
        <a:defRPr sz="3400" b="0" i="0" kern="1200" cap="none">
          <a:solidFill>
            <a:schemeClr val="tx1"/>
          </a:solidFill>
          <a:effectLst/>
          <a:latin typeface="+mj-lt"/>
          <a:ea typeface="+mj-ea"/>
          <a:cs typeface="+mj-cs"/>
        </a:defRPr>
      </a:lvl1pPr>
    </p:titleStyle>
    <p:bodyStyle>
      <a:lvl1pPr marL="344488" indent="-344488" algn="l" defTabSz="914400" rtl="0" eaLnBrk="1" latinLnBrk="0" hangingPunct="1">
        <a:lnSpc>
          <a:spcPct val="120000"/>
        </a:lnSpc>
        <a:spcBef>
          <a:spcPts val="1000"/>
        </a:spcBef>
        <a:spcAft>
          <a:spcPts val="600"/>
        </a:spcAft>
        <a:buClr>
          <a:schemeClr val="accent6"/>
        </a:buClr>
        <a:buSzPct val="90000"/>
        <a:buFont typeface="Wingdings" panose="05000000000000000000" pitchFamily="2" charset="2"/>
        <a:buChar char="§"/>
        <a:defRPr sz="2000" kern="1200">
          <a:solidFill>
            <a:schemeClr val="tx1"/>
          </a:solidFill>
          <a:effectLst/>
          <a:latin typeface="+mn-lt"/>
          <a:ea typeface="+mn-ea"/>
          <a:cs typeface="+mn-cs"/>
        </a:defRPr>
      </a:lvl1pPr>
      <a:lvl2pPr marL="7953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800" kern="1200">
          <a:solidFill>
            <a:schemeClr val="tx1"/>
          </a:solidFill>
          <a:effectLst/>
          <a:latin typeface="+mn-lt"/>
          <a:ea typeface="+mn-ea"/>
          <a:cs typeface="+mn-cs"/>
        </a:defRPr>
      </a:lvl2pPr>
      <a:lvl3pPr marL="12588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600" kern="1200">
          <a:solidFill>
            <a:schemeClr val="tx1"/>
          </a:solidFill>
          <a:effectLst/>
          <a:latin typeface="+mn-lt"/>
          <a:ea typeface="+mn-ea"/>
          <a:cs typeface="+mn-cs"/>
        </a:defRPr>
      </a:lvl3pPr>
      <a:lvl4pPr marL="1709738" indent="-33813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400" kern="1200">
          <a:solidFill>
            <a:schemeClr val="tx1"/>
          </a:solidFill>
          <a:effectLst/>
          <a:latin typeface="+mn-lt"/>
          <a:ea typeface="+mn-ea"/>
          <a:cs typeface="+mn-cs"/>
        </a:defRPr>
      </a:lvl4pPr>
      <a:lvl5pPr marL="2173288" indent="-34448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a:solidFill>
            <a:schemeClr val="tx1"/>
          </a:solidFill>
          <a:effectLst/>
          <a:latin typeface="+mn-lt"/>
          <a:ea typeface="+mn-ea"/>
          <a:cs typeface="+mn-cs"/>
        </a:defRPr>
      </a:lvl5pPr>
      <a:lvl6pPr marL="2642616"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6pPr>
      <a:lvl7pPr marL="3108960"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7pPr>
      <a:lvl8pPr marL="3575304"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8pPr>
      <a:lvl9pPr marL="4041648" indent="-338328" algn="l" defTabSz="914400" rtl="0" eaLnBrk="1" latinLnBrk="0" hangingPunct="1">
        <a:lnSpc>
          <a:spcPct val="120000"/>
        </a:lnSpc>
        <a:spcBef>
          <a:spcPts val="500"/>
        </a:spcBef>
        <a:spcAft>
          <a:spcPts val="600"/>
        </a:spcAft>
        <a:buClr>
          <a:schemeClr val="accent6"/>
        </a:buClr>
        <a:buSzPct val="90000"/>
        <a:buFont typeface="Wingdings" panose="05000000000000000000" pitchFamily="2" charset="2"/>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rotWithShape="1">
          <a:blip r:embed="rId2"/>
          <a:stretch/>
        </a:blip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3DBBA26C-89C3-411F-9753-606A413F89AF}"/>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p:spPr>
      </p:pic>
      <p:pic>
        <p:nvPicPr>
          <p:cNvPr id="11" name="Picture 10">
            <a:extLst>
              <a:ext uri="{FF2B5EF4-FFF2-40B4-BE49-F238E27FC236}">
                <a16:creationId xmlns:a16="http://schemas.microsoft.com/office/drawing/2014/main" id="{EEAD2215-6311-4D1C-B6B5-F57CB6BFCBCA}"/>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0" y="0"/>
            <a:ext cx="12189867" cy="6858000"/>
          </a:xfrm>
          <a:prstGeom prst="rect">
            <a:avLst/>
          </a:prstGeom>
        </p:spPr>
      </p:pic>
      <p:sp>
        <p:nvSpPr>
          <p:cNvPr id="13" name="Rectangle 12">
            <a:extLst>
              <a:ext uri="{FF2B5EF4-FFF2-40B4-BE49-F238E27FC236}">
                <a16:creationId xmlns:a16="http://schemas.microsoft.com/office/drawing/2014/main" id="{7BA5DE79-30D1-4A10-8DB9-0A6E523A972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64174"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5" name="Rectangle 14">
            <a:extLst>
              <a:ext uri="{FF2B5EF4-FFF2-40B4-BE49-F238E27FC236}">
                <a16:creationId xmlns:a16="http://schemas.microsoft.com/office/drawing/2014/main" id="{9ABD0D63-D23F-4AE7-8270-4185EF9C1C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62042" y="0"/>
            <a:ext cx="45719"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7" name="Rectangle 16">
            <a:extLst>
              <a:ext uri="{FF2B5EF4-FFF2-40B4-BE49-F238E27FC236}">
                <a16:creationId xmlns:a16="http://schemas.microsoft.com/office/drawing/2014/main" id="{D5B0B43F-2CE7-4C6C-BABC-EE342B3282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04479" y="0"/>
            <a:ext cx="10372316" cy="6858000"/>
          </a:xfrm>
          <a:prstGeom prst="rect">
            <a:avLst/>
          </a:prstGeom>
          <a:solidFill>
            <a:schemeClr val="bg2">
              <a:alpha val="92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19" name="Rectangle 18">
            <a:extLst>
              <a:ext uri="{FF2B5EF4-FFF2-40B4-BE49-F238E27FC236}">
                <a16:creationId xmlns:a16="http://schemas.microsoft.com/office/drawing/2014/main" id="{85459F07-63F9-48CF-B725-A873C4BC36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377328" y="0"/>
            <a:ext cx="27432" cy="6858000"/>
          </a:xfrm>
          <a:prstGeom prst="rect">
            <a:avLst/>
          </a:prstGeom>
          <a:solidFill>
            <a:schemeClr val="accent6"/>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21" name="TextBox 20">
            <a:extLst>
              <a:ext uri="{FF2B5EF4-FFF2-40B4-BE49-F238E27FC236}">
                <a16:creationId xmlns:a16="http://schemas.microsoft.com/office/drawing/2014/main" id="{14B83E1E-DAC1-4851-84FF-D6FE1649DE0B}"/>
              </a:ext>
              <a:ext uri="{C183D7F6-B498-43B3-948B-1728B52AA6E4}">
                <adec:decorative xmlns:adec="http://schemas.microsoft.com/office/drawing/2017/decorative" val="1"/>
              </a:ext>
            </a:extLst>
          </p:cNvPr>
          <p:cNvSpPr txBox="1">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194943" y="641225"/>
            <a:ext cx="415636" cy="369332"/>
          </a:xfrm>
          <a:prstGeom prst="rect">
            <a:avLst/>
          </a:prstGeom>
          <a:noFill/>
        </p:spPr>
        <p:txBody>
          <a:bodyPr wrap="square" rtlCol="0">
            <a:spAutoFit/>
          </a:bodyPr>
          <a:lstStyle/>
          <a:p>
            <a:pPr algn="r">
              <a:spcAft>
                <a:spcPts val="600"/>
              </a:spcAft>
            </a:pPr>
            <a:r>
              <a:rPr lang="en-US" sz="1800" dirty="0">
                <a:solidFill>
                  <a:schemeClr val="accent6"/>
                </a:solidFill>
                <a:latin typeface="Wingdings 3" panose="05040102010807070707" pitchFamily="18" charset="2"/>
              </a:rPr>
              <a:t>z</a:t>
            </a:r>
            <a:endParaRPr lang="en-US" sz="1000" dirty="0">
              <a:solidFill>
                <a:schemeClr val="accent6"/>
              </a:solidFill>
              <a:latin typeface="MS Shell Dlg 2" panose="020B0604030504040204" pitchFamily="34" charset="0"/>
            </a:endParaRPr>
          </a:p>
        </p:txBody>
      </p:sp>
      <p:sp useBgFill="1">
        <p:nvSpPr>
          <p:cNvPr id="23" name="Rectangle 22">
            <a:extLst>
              <a:ext uri="{FF2B5EF4-FFF2-40B4-BE49-F238E27FC236}">
                <a16:creationId xmlns:a16="http://schemas.microsoft.com/office/drawing/2014/main" id="{8F3CF990-ACB8-443A-BB74-D36EC8A00B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2000" cy="685800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2601900C-265D-4146-A578-477541E3DF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1">
              <a:lumMod val="5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7" name="Picture 26">
            <a:extLst>
              <a:ext uri="{FF2B5EF4-FFF2-40B4-BE49-F238E27FC236}">
                <a16:creationId xmlns:a16="http://schemas.microsoft.com/office/drawing/2014/main" id="{00B98862-BEE1-44FB-A335-A1B9106B445E}"/>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3">
            <a:extLst>
              <a:ext uri="{28A0092B-C50C-407E-A947-70E740481C1C}">
                <a14:useLocalDpi xmlns:a14="http://schemas.microsoft.com/office/drawing/2010/main" val="0"/>
              </a:ext>
            </a:extLst>
          </a:blip>
          <a:stretch>
            <a:fillRect/>
          </a:stretch>
        </p:blipFill>
        <p:spPr>
          <a:xfrm>
            <a:off x="2831794" y="2105202"/>
            <a:ext cx="9360205" cy="4752798"/>
          </a:xfrm>
          <a:prstGeom prst="rect">
            <a:avLst/>
          </a:prstGeom>
          <a:noFill/>
        </p:spPr>
      </p:pic>
      <p:sp>
        <p:nvSpPr>
          <p:cNvPr id="29" name="Freeform: Shape 28">
            <a:extLst>
              <a:ext uri="{FF2B5EF4-FFF2-40B4-BE49-F238E27FC236}">
                <a16:creationId xmlns:a16="http://schemas.microsoft.com/office/drawing/2014/main" id="{65F94F98-3A57-49AA-838E-91AAF600B6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678519" y="-1660968"/>
            <a:ext cx="5838229" cy="11188733"/>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25000">
                <a:schemeClr val="accent1">
                  <a:alpha val="0"/>
                </a:schemeClr>
              </a:gs>
              <a:gs pos="100000">
                <a:schemeClr val="accent1">
                  <a:alpha val="75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pic>
        <p:nvPicPr>
          <p:cNvPr id="31" name="Picture 30">
            <a:extLst>
              <a:ext uri="{FF2B5EF4-FFF2-40B4-BE49-F238E27FC236}">
                <a16:creationId xmlns:a16="http://schemas.microsoft.com/office/drawing/2014/main" id="{7185CF21-0594-48C0-9F3E-254D6BCE9D9B}"/>
              </a:ext>
              <a:ext uri="{C183D7F6-B498-43B3-948B-1728B52AA6E4}">
                <adec:decorative xmlns:adec="http://schemas.microsoft.com/office/drawing/2017/decorative" val="1"/>
              </a:ext>
            </a:extLst>
          </p:cNvPr>
          <p:cNvPicPr>
            <a:picLocks noGrp="1" noRot="1" noChangeAspect="1" noMove="1" noResize="1" noEditPoints="1" noAdjustHandles="1" noChangeArrowheads="1" noChangeShapeType="1" noCrop="1"/>
          </p:cNvPicPr>
          <p:nvPr>
            <p:extLst>
              <p:ext uri="{386F3935-93C4-4BCD-93E2-E3B085C9AB24}">
                <p16:designElem xmlns:p16="http://schemas.microsoft.com/office/powerpoint/2015/main" val="1"/>
              </p:ext>
            </p:extLst>
          </p:nvPr>
        </p:nvPicPr>
        <p:blipFill>
          <a:blip r:embed="rId4">
            <a:extLst>
              <a:ext uri="{28A0092B-C50C-407E-A947-70E740481C1C}">
                <a14:useLocalDpi xmlns:a14="http://schemas.microsoft.com/office/drawing/2010/main" val="0"/>
              </a:ext>
            </a:extLst>
          </a:blip>
          <a:stretch>
            <a:fillRect/>
          </a:stretch>
        </p:blipFill>
        <p:spPr>
          <a:xfrm>
            <a:off x="1067" y="0"/>
            <a:ext cx="12189867" cy="6858000"/>
          </a:xfrm>
          <a:prstGeom prst="rect">
            <a:avLst/>
          </a:prstGeom>
        </p:spPr>
      </p:pic>
      <p:sp>
        <p:nvSpPr>
          <p:cNvPr id="33" name="Rectangle 32">
            <a:extLst>
              <a:ext uri="{FF2B5EF4-FFF2-40B4-BE49-F238E27FC236}">
                <a16:creationId xmlns:a16="http://schemas.microsoft.com/office/drawing/2014/main" id="{41F8C064-2DC5-4758-B49C-76BFF64052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1"/>
          </a:xfrm>
          <a:prstGeom prst="rect">
            <a:avLst/>
          </a:prstGeom>
          <a:solidFill>
            <a:schemeClr val="tx2">
              <a:lumMod val="10000"/>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Freeform: Shape 34">
            <a:extLst>
              <a:ext uri="{FF2B5EF4-FFF2-40B4-BE49-F238E27FC236}">
                <a16:creationId xmlns:a16="http://schemas.microsoft.com/office/drawing/2014/main" id="{FBD68200-BC03-4015-860B-CD5C30CD76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953542" y="0"/>
            <a:ext cx="7875912" cy="6858000"/>
          </a:xfrm>
          <a:custGeom>
            <a:avLst/>
            <a:gdLst>
              <a:gd name="connsiteX0" fmla="*/ 0 w 7821919"/>
              <a:gd name="connsiteY0" fmla="*/ 0 h 6858000"/>
              <a:gd name="connsiteX1" fmla="*/ 6983367 w 7821919"/>
              <a:gd name="connsiteY1" fmla="*/ 0 h 6858000"/>
              <a:gd name="connsiteX2" fmla="*/ 6982269 w 7821919"/>
              <a:gd name="connsiteY2" fmla="*/ 1331 h 6858000"/>
              <a:gd name="connsiteX3" fmla="*/ 6833782 w 7821919"/>
              <a:gd name="connsiteY3" fmla="*/ 487443 h 6858000"/>
              <a:gd name="connsiteX4" fmla="*/ 6851446 w 7821919"/>
              <a:gd name="connsiteY4" fmla="*/ 662666 h 6858000"/>
              <a:gd name="connsiteX5" fmla="*/ 6857532 w 7821919"/>
              <a:gd name="connsiteY5" fmla="*/ 686333 h 6858000"/>
              <a:gd name="connsiteX6" fmla="*/ 6806927 w 7821919"/>
              <a:gd name="connsiteY6" fmla="*/ 699345 h 6858000"/>
              <a:gd name="connsiteX7" fmla="*/ 5555365 w 7821919"/>
              <a:gd name="connsiteY7" fmla="*/ 2400515 h 6858000"/>
              <a:gd name="connsiteX8" fmla="*/ 7336617 w 7821919"/>
              <a:gd name="connsiteY8" fmla="*/ 4181767 h 6858000"/>
              <a:gd name="connsiteX9" fmla="*/ 7452815 w 7821919"/>
              <a:gd name="connsiteY9" fmla="*/ 4175900 h 6858000"/>
              <a:gd name="connsiteX10" fmla="*/ 7437456 w 7821919"/>
              <a:gd name="connsiteY10" fmla="*/ 4225378 h 6858000"/>
              <a:gd name="connsiteX11" fmla="*/ 7428275 w 7821919"/>
              <a:gd name="connsiteY11" fmla="*/ 4316448 h 6858000"/>
              <a:gd name="connsiteX12" fmla="*/ 7789089 w 7821919"/>
              <a:gd name="connsiteY12" fmla="*/ 4759152 h 6858000"/>
              <a:gd name="connsiteX13" fmla="*/ 7821919 w 7821919"/>
              <a:gd name="connsiteY13" fmla="*/ 4762461 h 6858000"/>
              <a:gd name="connsiteX14" fmla="*/ 7809638 w 7821919"/>
              <a:gd name="connsiteY14" fmla="*/ 4785088 h 6858000"/>
              <a:gd name="connsiteX15" fmla="*/ 7794661 w 7821919"/>
              <a:gd name="connsiteY15" fmla="*/ 4833335 h 6858000"/>
              <a:gd name="connsiteX16" fmla="*/ 7524776 w 7821919"/>
              <a:gd name="connsiteY16" fmla="*/ 4917113 h 6858000"/>
              <a:gd name="connsiteX17" fmla="*/ 6642110 w 7821919"/>
              <a:gd name="connsiteY17" fmla="*/ 6248746 h 6858000"/>
              <a:gd name="connsiteX18" fmla="*/ 6755682 w 7821919"/>
              <a:gd name="connsiteY18" fmla="*/ 6811285 h 6858000"/>
              <a:gd name="connsiteX19" fmla="*/ 6778185 w 7821919"/>
              <a:gd name="connsiteY19" fmla="*/ 6858000 h 6858000"/>
              <a:gd name="connsiteX20" fmla="*/ 0 w 7821919"/>
              <a:gd name="connsiteY20"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Lst>
            <a:rect l="l" t="t" r="r" b="b"/>
            <a:pathLst>
              <a:path w="7821919" h="6858000">
                <a:moveTo>
                  <a:pt x="0" y="0"/>
                </a:moveTo>
                <a:lnTo>
                  <a:pt x="6983367" y="0"/>
                </a:lnTo>
                <a:lnTo>
                  <a:pt x="6982269" y="1331"/>
                </a:lnTo>
                <a:cubicBezTo>
                  <a:pt x="6888522" y="140095"/>
                  <a:pt x="6833782" y="307376"/>
                  <a:pt x="6833782" y="487443"/>
                </a:cubicBezTo>
                <a:cubicBezTo>
                  <a:pt x="6833782" y="547466"/>
                  <a:pt x="6839864" y="606067"/>
                  <a:pt x="6851446" y="662666"/>
                </a:cubicBezTo>
                <a:lnTo>
                  <a:pt x="6857532" y="686333"/>
                </a:lnTo>
                <a:lnTo>
                  <a:pt x="6806927" y="699345"/>
                </a:lnTo>
                <a:cubicBezTo>
                  <a:pt x="6081835" y="924872"/>
                  <a:pt x="5555365" y="1601212"/>
                  <a:pt x="5555365" y="2400515"/>
                </a:cubicBezTo>
                <a:cubicBezTo>
                  <a:pt x="5555365" y="3384273"/>
                  <a:pt x="6352859" y="4181767"/>
                  <a:pt x="7336617" y="4181767"/>
                </a:cubicBezTo>
                <a:lnTo>
                  <a:pt x="7452815" y="4175900"/>
                </a:lnTo>
                <a:lnTo>
                  <a:pt x="7437456" y="4225378"/>
                </a:lnTo>
                <a:cubicBezTo>
                  <a:pt x="7431436" y="4254794"/>
                  <a:pt x="7428275" y="4285252"/>
                  <a:pt x="7428275" y="4316448"/>
                </a:cubicBezTo>
                <a:cubicBezTo>
                  <a:pt x="7428275" y="4534821"/>
                  <a:pt x="7583172" y="4717015"/>
                  <a:pt x="7789089" y="4759152"/>
                </a:cubicBezTo>
                <a:lnTo>
                  <a:pt x="7821919" y="4762461"/>
                </a:lnTo>
                <a:lnTo>
                  <a:pt x="7809638" y="4785088"/>
                </a:lnTo>
                <a:lnTo>
                  <a:pt x="7794661" y="4833335"/>
                </a:lnTo>
                <a:lnTo>
                  <a:pt x="7524776" y="4917113"/>
                </a:lnTo>
                <a:cubicBezTo>
                  <a:pt x="7006070" y="5136507"/>
                  <a:pt x="6642110" y="5650122"/>
                  <a:pt x="6642110" y="6248746"/>
                </a:cubicBezTo>
                <a:cubicBezTo>
                  <a:pt x="6642110" y="6448287"/>
                  <a:pt x="6682550" y="6638383"/>
                  <a:pt x="6755682" y="6811285"/>
                </a:cubicBezTo>
                <a:lnTo>
                  <a:pt x="6778185" y="6858000"/>
                </a:lnTo>
                <a:lnTo>
                  <a:pt x="0" y="6858000"/>
                </a:lnTo>
                <a:close/>
              </a:path>
            </a:pathLst>
          </a:custGeom>
          <a:gradFill>
            <a:gsLst>
              <a:gs pos="15000">
                <a:schemeClr val="bg2">
                  <a:alpha val="0"/>
                </a:schemeClr>
              </a:gs>
              <a:gs pos="100000">
                <a:schemeClr val="bg2"/>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7" name="Rectangle 36">
            <a:extLst>
              <a:ext uri="{FF2B5EF4-FFF2-40B4-BE49-F238E27FC236}">
                <a16:creationId xmlns:a16="http://schemas.microsoft.com/office/drawing/2014/main" id="{A0B5529D-5CAA-4BF2-B5C9-34705E7661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59909" cy="6858000"/>
          </a:xfrm>
          <a:prstGeom prst="rect">
            <a:avLst/>
          </a:prstGeom>
          <a:solidFill>
            <a:schemeClr val="bg2">
              <a:lumMod val="90000"/>
              <a:lumOff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IN"/>
          </a:p>
        </p:txBody>
      </p:sp>
      <p:sp>
        <p:nvSpPr>
          <p:cNvPr id="39" name="Oval 38">
            <a:extLst>
              <a:ext uri="{FF2B5EF4-FFF2-40B4-BE49-F238E27FC236}">
                <a16:creationId xmlns:a16="http://schemas.microsoft.com/office/drawing/2014/main" id="{332A6F87-AC28-4AA8-B8A6-AEBC67BD0D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47567" y="421698"/>
            <a:ext cx="967148" cy="967148"/>
          </a:xfrm>
          <a:prstGeom prst="ellipse">
            <a:avLst/>
          </a:prstGeom>
          <a:gradFill>
            <a:gsLst>
              <a:gs pos="0">
                <a:schemeClr val="bg2">
                  <a:alpha val="0"/>
                </a:schemeClr>
              </a:gs>
              <a:gs pos="100000">
                <a:schemeClr val="accent1">
                  <a:alpha val="21000"/>
                </a:schemeClr>
              </a:gs>
            </a:gsLst>
            <a:lin ang="108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Box 1"/>
          <p:cNvSpPr txBox="1"/>
          <p:nvPr/>
        </p:nvSpPr>
        <p:spPr>
          <a:xfrm>
            <a:off x="1881534" y="1063643"/>
            <a:ext cx="9763049" cy="2290744"/>
          </a:xfrm>
          <a:prstGeom prst="rect">
            <a:avLst/>
          </a:prstGeom>
        </p:spPr>
        <p:txBody>
          <a:bodyPr vert="horz" lIns="91440" tIns="45720" rIns="91440" bIns="45720" rtlCol="0" anchor="t">
            <a:normAutofit/>
          </a:bodyPr>
          <a:lstStyle/>
          <a:p>
            <a:pPr defTabSz="914400">
              <a:lnSpc>
                <a:spcPct val="90000"/>
              </a:lnSpc>
              <a:spcBef>
                <a:spcPct val="0"/>
              </a:spcBef>
              <a:spcAft>
                <a:spcPts val="600"/>
              </a:spcAft>
              <a:defRPr sz="3000" b="1"/>
            </a:pPr>
            <a:r>
              <a:rPr lang="en-US" sz="5400" dirty="0">
                <a:latin typeface="+mj-lt"/>
                <a:ea typeface="+mj-ea"/>
                <a:cs typeface="+mj-cs"/>
              </a:rPr>
              <a:t>Learned Falsehoods Look Like Knowledge</a:t>
            </a:r>
          </a:p>
        </p:txBody>
      </p:sp>
      <p:sp>
        <p:nvSpPr>
          <p:cNvPr id="3" name="TextBox 2"/>
          <p:cNvSpPr txBox="1"/>
          <p:nvPr/>
        </p:nvSpPr>
        <p:spPr>
          <a:xfrm>
            <a:off x="2256639" y="2052116"/>
            <a:ext cx="6572814" cy="3997828"/>
          </a:xfrm>
          <a:prstGeom prst="rect">
            <a:avLst/>
          </a:prstGeom>
        </p:spPr>
        <p:txBody>
          <a:bodyPr vert="horz" lIns="91440" tIns="45720" rIns="91440" bIns="45720" rtlCol="0" anchor="t">
            <a:normAutofit/>
          </a:bodyPr>
          <a:lstStyle/>
          <a:p>
            <a:pPr defTabSz="914400">
              <a:lnSpc>
                <a:spcPct val="120000"/>
              </a:lnSpc>
              <a:spcAft>
                <a:spcPts val="600"/>
              </a:spcAft>
              <a:buClr>
                <a:schemeClr val="accent6"/>
              </a:buClr>
              <a:buSzPct val="90000"/>
              <a:defRPr sz="1500"/>
            </a:pPr>
            <a:endParaRPr lang="en-US" sz="1500" dirty="0"/>
          </a:p>
        </p:txBody>
      </p:sp>
      <p:sp>
        <p:nvSpPr>
          <p:cNvPr id="4" name="TextBox 3"/>
          <p:cNvSpPr txBox="1"/>
          <p:nvPr/>
        </p:nvSpPr>
        <p:spPr>
          <a:xfrm>
            <a:off x="2031141" y="4632933"/>
            <a:ext cx="8771953" cy="2015936"/>
          </a:xfrm>
          <a:prstGeom prst="rect">
            <a:avLst/>
          </a:prstGeom>
          <a:noFill/>
        </p:spPr>
        <p:txBody>
          <a:bodyPr wrap="none">
            <a:spAutoFit/>
          </a:bodyPr>
          <a:lstStyle/>
          <a:p>
            <a:pPr algn="ctr">
              <a:spcAft>
                <a:spcPts val="600"/>
              </a:spcAft>
              <a:defRPr sz="3400" b="1"/>
            </a:pPr>
            <a:r>
              <a:rPr lang="en-IN" dirty="0"/>
              <a:t>DA3 Final Review: Implementation and Results</a:t>
            </a:r>
          </a:p>
          <a:p>
            <a:pPr algn="ctr">
              <a:spcAft>
                <a:spcPts val="600"/>
              </a:spcAft>
              <a:defRPr sz="2200"/>
            </a:pPr>
            <a:r>
              <a:rPr lang="en-US" dirty="0"/>
              <a:t>Can an AI model's own confidence reveal when it is making things up?</a:t>
            </a:r>
            <a:endParaRPr lang="en-IN" dirty="0"/>
          </a:p>
          <a:p>
            <a:pPr algn="ctr">
              <a:spcAft>
                <a:spcPts val="600"/>
              </a:spcAft>
              <a:defRPr sz="1700"/>
            </a:pPr>
            <a:r>
              <a:rPr lang="en-IN" dirty="0"/>
              <a:t>BCSE306L - Natural Language Processing | DA3</a:t>
            </a:r>
          </a:p>
          <a:p>
            <a:pPr algn="ctr">
              <a:spcAft>
                <a:spcPts val="600"/>
              </a:spcAft>
              <a:defRPr sz="1600"/>
            </a:pPr>
            <a:r>
              <a:rPr lang="en-IN" dirty="0"/>
              <a:t>Goutham Krishna Jayakrishnan - Shubham Khadilkar</a:t>
            </a:r>
          </a:p>
          <a:p>
            <a:pPr algn="ctr">
              <a:spcAft>
                <a:spcPts val="600"/>
              </a:spcAft>
              <a:defRPr sz="1600"/>
            </a:pPr>
            <a:r>
              <a:rPr lang="en-IN" dirty="0"/>
              <a:t>24BCE1910 - 24BCE5275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Every AI answer comes with a free confidence score</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2</a:t>
            </a:r>
          </a:p>
        </p:txBody>
      </p:sp>
      <p:sp>
        <p:nvSpPr>
          <p:cNvPr id="4" name="Rounded Rectangle 3"/>
          <p:cNvSpPr/>
          <p:nvPr/>
        </p:nvSpPr>
        <p:spPr>
          <a:xfrm>
            <a:off x="1325880" y="1508760"/>
            <a:ext cx="169164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1C2620"/>
                </a:solidFill>
                <a:latin typeface="Arial"/>
              </a:rPr>
              <a:t>Question</a:t>
            </a:r>
          </a:p>
        </p:txBody>
      </p:sp>
      <p:sp>
        <p:nvSpPr>
          <p:cNvPr id="5" name="Right Arrow 4"/>
          <p:cNvSpPr/>
          <p:nvPr/>
        </p:nvSpPr>
        <p:spPr>
          <a:xfrm>
            <a:off x="3054096" y="1851660"/>
            <a:ext cx="228600"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319272" y="1508760"/>
            <a:ext cx="169164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1C2620"/>
                </a:solidFill>
                <a:latin typeface="Arial"/>
              </a:rPr>
              <a:t>AI answers</a:t>
            </a:r>
          </a:p>
        </p:txBody>
      </p:sp>
      <p:sp>
        <p:nvSpPr>
          <p:cNvPr id="7" name="Right Arrow 6"/>
          <p:cNvSpPr/>
          <p:nvPr/>
        </p:nvSpPr>
        <p:spPr>
          <a:xfrm>
            <a:off x="5047488" y="1851660"/>
            <a:ext cx="228600"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312664" y="1508760"/>
            <a:ext cx="169164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1C2620"/>
                </a:solidFill>
                <a:latin typeface="Arial"/>
              </a:rPr>
              <a:t>Confidence of each word</a:t>
            </a:r>
          </a:p>
        </p:txBody>
      </p:sp>
      <p:sp>
        <p:nvSpPr>
          <p:cNvPr id="9" name="Right Arrow 8"/>
          <p:cNvSpPr/>
          <p:nvPr/>
        </p:nvSpPr>
        <p:spPr>
          <a:xfrm>
            <a:off x="7040880" y="1851660"/>
            <a:ext cx="228600"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06056" y="1508760"/>
            <a:ext cx="169164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1C2620"/>
                </a:solidFill>
                <a:latin typeface="Arial"/>
              </a:rPr>
              <a:t>Risk score</a:t>
            </a:r>
          </a:p>
        </p:txBody>
      </p:sp>
      <p:sp>
        <p:nvSpPr>
          <p:cNvPr id="11" name="Right Arrow 10"/>
          <p:cNvSpPr/>
          <p:nvPr/>
        </p:nvSpPr>
        <p:spPr>
          <a:xfrm>
            <a:off x="9034272" y="1851660"/>
            <a:ext cx="228600"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9299448" y="1508760"/>
            <a:ext cx="169164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400" b="1">
                <a:solidFill>
                  <a:srgbClr val="1C2620"/>
                </a:solidFill>
                <a:latin typeface="Arial"/>
              </a:rPr>
              <a:t>Trust or double-check</a:t>
            </a:r>
          </a:p>
        </p:txBody>
      </p:sp>
      <p:sp>
        <p:nvSpPr>
          <p:cNvPr id="13" name="Rounded Rectangle 12"/>
          <p:cNvSpPr/>
          <p:nvPr/>
        </p:nvSpPr>
        <p:spPr>
          <a:xfrm>
            <a:off x="1325880" y="2834640"/>
            <a:ext cx="4709160" cy="25146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554480" y="2971800"/>
            <a:ext cx="4297680" cy="2926080"/>
          </a:xfrm>
          <a:prstGeom prst="rect">
            <a:avLst/>
          </a:prstGeom>
          <a:noFill/>
        </p:spPr>
        <p:txBody>
          <a:bodyPr wrap="square" anchor="t" lIns="45720" rIns="45720">
            <a:spAutoFit/>
          </a:bodyPr>
          <a:lstStyle/>
          <a:p>
            <a:pPr algn="l">
              <a:spcAft>
                <a:spcPts val="1000"/>
              </a:spcAft>
            </a:pPr>
            <a:r>
              <a:rPr sz="1800" b="1" i="0">
                <a:solidFill>
                  <a:srgbClr val="A6D97E"/>
                </a:solidFill>
                <a:latin typeface="Arial"/>
              </a:rPr>
              <a:t>Our DA1 proposal</a:t>
            </a:r>
          </a:p>
          <a:p>
            <a:pPr algn="l">
              <a:spcAft>
                <a:spcPts val="1000"/>
              </a:spcAft>
            </a:pPr>
            <a:r>
              <a:rPr sz="1600" b="0" i="0">
                <a:solidFill>
                  <a:srgbClr val="F4F7F2"/>
                </a:solidFill>
                <a:latin typeface="Arial"/>
              </a:rPr>
              <a:t>Spot made-up answers from a single run of the model, using three confidence measures.</a:t>
            </a:r>
          </a:p>
          <a:p>
            <a:pPr algn="l">
              <a:spcAft>
                <a:spcPts val="1000"/>
              </a:spcAft>
            </a:pPr>
            <a:r>
              <a:rPr sz="1600" b="0" i="0">
                <a:solidFill>
                  <a:srgbClr val="F4F7F2"/>
                </a:solidFill>
                <a:latin typeface="Arial"/>
              </a:rPr>
              <a:t>Six times cheaper than asking the model six times and comparing the answers.</a:t>
            </a:r>
          </a:p>
        </p:txBody>
      </p:sp>
      <p:sp>
        <p:nvSpPr>
          <p:cNvPr id="15" name="Rounded Rectangle 14"/>
          <p:cNvSpPr/>
          <p:nvPr/>
        </p:nvSpPr>
        <p:spPr>
          <a:xfrm>
            <a:off x="6309360" y="2834640"/>
            <a:ext cx="4709160" cy="25146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37960" y="2971800"/>
            <a:ext cx="4297680" cy="2926080"/>
          </a:xfrm>
          <a:prstGeom prst="rect">
            <a:avLst/>
          </a:prstGeom>
          <a:noFill/>
        </p:spPr>
        <p:txBody>
          <a:bodyPr wrap="square" anchor="t" lIns="45720" rIns="45720">
            <a:spAutoFit/>
          </a:bodyPr>
          <a:lstStyle/>
          <a:p>
            <a:pPr algn="l">
              <a:spcAft>
                <a:spcPts val="1000"/>
              </a:spcAft>
            </a:pPr>
            <a:r>
              <a:rPr sz="1800" b="1" i="0">
                <a:solidFill>
                  <a:srgbClr val="A6D97E"/>
                </a:solidFill>
                <a:latin typeface="Arial"/>
              </a:rPr>
              <a:t>DA3 questions</a:t>
            </a:r>
          </a:p>
          <a:p>
            <a:pPr algn="l">
              <a:spcAft>
                <a:spcPts val="1000"/>
              </a:spcAft>
            </a:pPr>
            <a:r>
              <a:rPr sz="1600" b="0" i="0">
                <a:solidFill>
                  <a:srgbClr val="F4F7F2"/>
                </a:solidFill>
                <a:latin typeface="Arial"/>
              </a:rPr>
              <a:t>1. Does it work on new, unseen questions?</a:t>
            </a:r>
          </a:p>
          <a:p>
            <a:pPr algn="l">
              <a:spcAft>
                <a:spcPts val="1000"/>
              </a:spcAft>
            </a:pPr>
            <a:r>
              <a:rPr sz="1600" b="0" i="0">
                <a:solidFill>
                  <a:srgbClr val="F4F7F2"/>
                </a:solidFill>
                <a:latin typeface="Arial"/>
              </a:rPr>
              <a:t>2. Which mistakes does it catch, and which slip through? Why?</a:t>
            </a:r>
          </a:p>
          <a:p>
            <a:pPr algn="l">
              <a:spcAft>
                <a:spcPts val="1000"/>
              </a:spcAft>
            </a:pPr>
            <a:r>
              <a:rPr sz="1600" b="0" i="0">
                <a:solidFill>
                  <a:srgbClr val="F4F7F2"/>
                </a:solidFill>
                <a:latin typeface="Arial"/>
              </a:rPr>
              <a:t>3. Does the result survive our attempts to break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Step 1: we stress-tested our own DA1 system</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3</a:t>
            </a:r>
          </a:p>
        </p:txBody>
      </p:sp>
      <p:sp>
        <p:nvSpPr>
          <p:cNvPr id="4" name="Rounded Rectangle 3"/>
          <p:cNvSpPr/>
          <p:nvPr/>
        </p:nvSpPr>
        <p:spPr>
          <a:xfrm>
            <a:off x="1325880" y="1463040"/>
            <a:ext cx="3063240" cy="25146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1600200"/>
            <a:ext cx="26974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Found a hidden bug</a:t>
            </a:r>
          </a:p>
        </p:txBody>
      </p:sp>
      <p:sp>
        <p:nvSpPr>
          <p:cNvPr id="6" name="TextBox 5"/>
          <p:cNvSpPr txBox="1"/>
          <p:nvPr/>
        </p:nvSpPr>
        <p:spPr>
          <a:xfrm>
            <a:off x="1508760" y="2148840"/>
            <a:ext cx="2697480" cy="219456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A default setting in the Qwen model quietly changed its confidence scores, by 8× the right-vs-wrong difference. Found, measured and fixed.</a:t>
            </a:r>
          </a:p>
        </p:txBody>
      </p:sp>
      <p:sp>
        <p:nvSpPr>
          <p:cNvPr id="7" name="Rounded Rectangle 6"/>
          <p:cNvSpPr/>
          <p:nvPr/>
        </p:nvSpPr>
        <p:spPr>
          <a:xfrm>
            <a:off x="4617720" y="1463040"/>
            <a:ext cx="3063240" cy="25146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00600" y="1600200"/>
            <a:ext cx="26974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Fairer grading</a:t>
            </a:r>
          </a:p>
        </p:txBody>
      </p:sp>
      <p:sp>
        <p:nvSpPr>
          <p:cNvPr id="9" name="TextBox 8"/>
          <p:cNvSpPr txBox="1"/>
          <p:nvPr/>
        </p:nvSpPr>
        <p:spPr>
          <a:xfrm>
            <a:off x="4800600" y="2148840"/>
            <a:ext cx="2697480" cy="219456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Word matching marked correct paraphrases wrong. Replaced by a rubric-based grader that never sees the scores (93–98% consistent on re-grading).</a:t>
            </a:r>
          </a:p>
        </p:txBody>
      </p:sp>
      <p:sp>
        <p:nvSpPr>
          <p:cNvPr id="10" name="Rounded Rectangle 9"/>
          <p:cNvSpPr/>
          <p:nvPr/>
        </p:nvSpPr>
        <p:spPr>
          <a:xfrm>
            <a:off x="7909560" y="1463040"/>
            <a:ext cx="3063240" cy="25146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600200"/>
            <a:ext cx="26974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A much bigger test</a:t>
            </a:r>
          </a:p>
        </p:txBody>
      </p:sp>
      <p:sp>
        <p:nvSpPr>
          <p:cNvPr id="12" name="TextBox 11"/>
          <p:cNvSpPr txBox="1"/>
          <p:nvPr/>
        </p:nvSpPr>
        <p:spPr>
          <a:xfrm>
            <a:off x="8092440" y="2148840"/>
            <a:ext cx="2697480" cy="219456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From 60 test questions to 1,417 new questions the system had never seen.</a:t>
            </a:r>
          </a:p>
        </p:txBody>
      </p:sp>
      <p:sp>
        <p:nvSpPr>
          <p:cNvPr id="13" name="Rounded Rectangle 12"/>
          <p:cNvSpPr/>
          <p:nvPr/>
        </p:nvSpPr>
        <p:spPr>
          <a:xfrm>
            <a:off x="1325880" y="4297680"/>
            <a:ext cx="9692640" cy="1188720"/>
          </a:xfrm>
          <a:prstGeom prst="roundRect">
            <a:avLst>
              <a:gd name="adj" fmla="val 8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600200" y="4343400"/>
            <a:ext cx="9144000" cy="1097280"/>
          </a:xfrm>
          <a:prstGeom prst="rect">
            <a:avLst/>
          </a:prstGeom>
          <a:noFill/>
        </p:spPr>
        <p:txBody>
          <a:bodyPr wrap="square" anchor="ctr" lIns="45720" rIns="45720">
            <a:spAutoFit/>
          </a:bodyPr>
          <a:lstStyle/>
          <a:p>
            <a:pPr algn="l">
              <a:spcAft>
                <a:spcPts val="600"/>
              </a:spcAft>
            </a:pPr>
            <a:r>
              <a:rPr sz="1700" b="1" i="0">
                <a:solidFill>
                  <a:srgbClr val="1C2620"/>
                </a:solidFill>
                <a:latin typeface="Arial"/>
              </a:rPr>
              <a:t>Result: </a:t>
            </a:r>
            <a:r>
              <a:rPr sz="1700" b="0" i="0">
                <a:solidFill>
                  <a:srgbClr val="1C2620"/>
                </a:solidFill>
                <a:latin typeface="Arial"/>
              </a:rPr>
              <a:t>a clean, rebuilt system. We wrote down our predictions before the final test, so the results could not be tuned.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Implementation: how the system works</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4</a:t>
            </a:r>
          </a:p>
        </p:txBody>
      </p:sp>
      <p:sp>
        <p:nvSpPr>
          <p:cNvPr id="4" name="Rounded Rectangle 3"/>
          <p:cNvSpPr/>
          <p:nvPr/>
        </p:nvSpPr>
        <p:spPr>
          <a:xfrm>
            <a:off x="1325880"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Question</a:t>
            </a:r>
          </a:p>
        </p:txBody>
      </p:sp>
      <p:sp>
        <p:nvSpPr>
          <p:cNvPr id="5" name="Right Arrow 4"/>
          <p:cNvSpPr/>
          <p:nvPr/>
        </p:nvSpPr>
        <p:spPr>
          <a:xfrm>
            <a:off x="2734056" y="1805940"/>
            <a:ext cx="219456"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2990088"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Model's best answer</a:t>
            </a:r>
          </a:p>
        </p:txBody>
      </p:sp>
      <p:sp>
        <p:nvSpPr>
          <p:cNvPr id="7" name="Right Arrow 6"/>
          <p:cNvSpPr/>
          <p:nvPr/>
        </p:nvSpPr>
        <p:spPr>
          <a:xfrm>
            <a:off x="4398264" y="1805940"/>
            <a:ext cx="219456"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654296"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Re-read: confidence per word</a:t>
            </a:r>
          </a:p>
        </p:txBody>
      </p:sp>
      <p:sp>
        <p:nvSpPr>
          <p:cNvPr id="9" name="Right Arrow 8"/>
          <p:cNvSpPr/>
          <p:nvPr/>
        </p:nvSpPr>
        <p:spPr>
          <a:xfrm>
            <a:off x="6062472" y="1805940"/>
            <a:ext cx="219456"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318504"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17 confidence measures</a:t>
            </a:r>
          </a:p>
        </p:txBody>
      </p:sp>
      <p:sp>
        <p:nvSpPr>
          <p:cNvPr id="11" name="Right Arrow 10"/>
          <p:cNvSpPr/>
          <p:nvPr/>
        </p:nvSpPr>
        <p:spPr>
          <a:xfrm>
            <a:off x="7726679" y="1805940"/>
            <a:ext cx="219456"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982712"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10 detectors</a:t>
            </a:r>
          </a:p>
        </p:txBody>
      </p:sp>
      <p:sp>
        <p:nvSpPr>
          <p:cNvPr id="13" name="Right Arrow 12"/>
          <p:cNvSpPr/>
          <p:nvPr/>
        </p:nvSpPr>
        <p:spPr>
          <a:xfrm>
            <a:off x="9390888" y="1805940"/>
            <a:ext cx="219456" cy="182880"/>
          </a:xfrm>
          <a:prstGeom prst="rightArrow">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9646919" y="1463040"/>
            <a:ext cx="1371600" cy="868680"/>
          </a:xfrm>
          <a:prstGeom prst="roundRect">
            <a:avLst>
              <a:gd name="adj" fmla="val 15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200" b="1">
                <a:solidFill>
                  <a:srgbClr val="1C2620"/>
                </a:solidFill>
                <a:latin typeface="Arial"/>
              </a:rPr>
              <a:t>Compare with graded answers</a:t>
            </a:r>
          </a:p>
        </p:txBody>
      </p:sp>
      <p:graphicFrame>
        <p:nvGraphicFramePr>
          <p:cNvPr id="15" name="Table 14"/>
          <p:cNvGraphicFramePr>
            <a:graphicFrameLocks noGrp="1"/>
          </p:cNvGraphicFramePr>
          <p:nvPr/>
        </p:nvGraphicFramePr>
        <p:xfrm>
          <a:off x="1325880" y="2651760"/>
          <a:ext cx="9692640" cy="3008376"/>
        </p:xfrm>
        <a:graphic>
          <a:graphicData uri="http://schemas.openxmlformats.org/drawingml/2006/table">
            <a:tbl>
              <a:tblPr firstRow="1" bandRow="0">
                <a:tableStyleId>{5940675A-B579-460E-94D1-54222C63F5DA}</a:tableStyleId>
              </a:tblPr>
              <a:tblGrid>
                <a:gridCol w="1417320"/>
                <a:gridCol w="5486400"/>
                <a:gridCol w="2788920"/>
              </a:tblGrid>
              <a:tr h="429768">
                <a:tc>
                  <a:txBody>
                    <a:bodyPr wrap="square"/>
                    <a:lstStyle/>
                    <a:p>
                      <a:pPr algn="l"/>
                      <a:r>
                        <a:rPr sz="1300" b="1">
                          <a:solidFill>
                            <a:srgbClr val="1C2620"/>
                          </a:solidFill>
                          <a:latin typeface="Arial"/>
                        </a:rPr>
                        <a:t>Step</a:t>
                      </a:r>
                    </a:p>
                  </a:txBody>
                  <a:tcPr marL="73152" marR="73152" marT="27432" marB="27432" anchor="ctr">
                    <a:solidFill>
                      <a:srgbClr val="A6D97E"/>
                    </a:solidFill>
                  </a:tcPr>
                </a:tc>
                <a:tc>
                  <a:txBody>
                    <a:bodyPr wrap="square"/>
                    <a:lstStyle/>
                    <a:p>
                      <a:pPr algn="l"/>
                      <a:r>
                        <a:rPr sz="1300" b="1">
                          <a:solidFill>
                            <a:srgbClr val="1C2620"/>
                          </a:solidFill>
                          <a:latin typeface="Arial"/>
                        </a:rPr>
                        <a:t>What it does</a:t>
                      </a:r>
                    </a:p>
                  </a:txBody>
                  <a:tcPr marL="73152" marR="73152" marT="27432" marB="27432" anchor="ctr">
                    <a:solidFill>
                      <a:srgbClr val="A6D97E"/>
                    </a:solidFill>
                  </a:tcPr>
                </a:tc>
                <a:tc>
                  <a:txBody>
                    <a:bodyPr wrap="square"/>
                    <a:lstStyle/>
                    <a:p>
                      <a:pPr algn="l"/>
                      <a:r>
                        <a:rPr sz="1300" b="1">
                          <a:solidFill>
                            <a:srgbClr val="1C2620"/>
                          </a:solidFill>
                          <a:latin typeface="Arial"/>
                        </a:rPr>
                        <a:t>Code</a:t>
                      </a:r>
                    </a:p>
                  </a:txBody>
                  <a:tcPr marL="73152" marR="73152" marT="27432" marB="27432" anchor="ctr">
                    <a:solidFill>
                      <a:srgbClr val="A6D97E"/>
                    </a:solidFill>
                  </a:tcPr>
                </a:tc>
              </a:tr>
              <a:tr h="429768">
                <a:tc>
                  <a:txBody>
                    <a:bodyPr wrap="square"/>
                    <a:lstStyle/>
                    <a:p>
                      <a:pPr algn="l"/>
                      <a:r>
                        <a:rPr sz="1300" b="0">
                          <a:solidFill>
                            <a:srgbClr val="F4F7F2"/>
                          </a:solidFill>
                          <a:latin typeface="Arial"/>
                        </a:rPr>
                        <a:t>Answer</a:t>
                      </a:r>
                    </a:p>
                  </a:txBody>
                  <a:tcPr marL="73152" marR="73152" marT="27432" marB="27432" anchor="ctr">
                    <a:solidFill>
                      <a:srgbClr val="3A5043"/>
                    </a:solidFill>
                  </a:tcPr>
                </a:tc>
                <a:tc>
                  <a:txBody>
                    <a:bodyPr wrap="square"/>
                    <a:lstStyle/>
                    <a:p>
                      <a:pPr algn="l"/>
                      <a:r>
                        <a:rPr sz="1300" b="0">
                          <a:solidFill>
                            <a:srgbClr val="F4F7F2"/>
                          </a:solidFill>
                          <a:latin typeface="Arial"/>
                        </a:rPr>
                        <a:t>The model's most likely answer, no hidden settings, up to 64 words; 5 extra varied answers</a:t>
                      </a:r>
                    </a:p>
                  </a:txBody>
                  <a:tcPr marL="73152" marR="73152" marT="27432" marB="27432" anchor="ctr">
                    <a:solidFill>
                      <a:srgbClr val="3A5043"/>
                    </a:solidFill>
                  </a:tcPr>
                </a:tc>
                <a:tc>
                  <a:txBody>
                    <a:bodyPr wrap="square"/>
                    <a:lstStyle/>
                    <a:p>
                      <a:pPr algn="l"/>
                      <a:r>
                        <a:rPr sz="1300" b="0">
                          <a:solidFill>
                            <a:srgbClr val="F4F7F2"/>
                          </a:solidFill>
                          <a:latin typeface="Arial"/>
                        </a:rPr>
                        <a:t>scripts/v2_generate.py</a:t>
                      </a:r>
                    </a:p>
                  </a:txBody>
                  <a:tcPr marL="73152" marR="73152" marT="27432" marB="27432" anchor="ctr">
                    <a:solidFill>
                      <a:srgbClr val="3A5043"/>
                    </a:solidFill>
                  </a:tcPr>
                </a:tc>
              </a:tr>
              <a:tr h="429768">
                <a:tc>
                  <a:txBody>
                    <a:bodyPr wrap="square"/>
                    <a:lstStyle/>
                    <a:p>
                      <a:pPr algn="l"/>
                      <a:r>
                        <a:rPr sz="1300" b="0">
                          <a:solidFill>
                            <a:srgbClr val="F4F7F2"/>
                          </a:solidFill>
                          <a:latin typeface="Arial"/>
                        </a:rPr>
                        <a:t>Confidence</a:t>
                      </a:r>
                    </a:p>
                  </a:txBody>
                  <a:tcPr marL="73152" marR="73152" marT="27432" marB="27432" anchor="ctr">
                    <a:solidFill>
                      <a:srgbClr val="314539"/>
                    </a:solidFill>
                  </a:tcPr>
                </a:tc>
                <a:tc>
                  <a:txBody>
                    <a:bodyPr wrap="square"/>
                    <a:lstStyle/>
                    <a:p>
                      <a:pPr algn="l"/>
                      <a:r>
                        <a:rPr sz="1300" b="0">
                          <a:solidFill>
                            <a:srgbClr val="F4F7F2"/>
                          </a:solidFill>
                          <a:latin typeface="Arial"/>
                        </a:rPr>
                        <a:t>How sure the model was of each word, and how close the runner-up word was</a:t>
                      </a:r>
                    </a:p>
                  </a:txBody>
                  <a:tcPr marL="73152" marR="73152" marT="27432" marB="27432" anchor="ctr">
                    <a:solidFill>
                      <a:srgbClr val="314539"/>
                    </a:solidFill>
                  </a:tcPr>
                </a:tc>
                <a:tc>
                  <a:txBody>
                    <a:bodyPr wrap="square"/>
                    <a:lstStyle/>
                    <a:p>
                      <a:pPr algn="l"/>
                      <a:r>
                        <a:rPr sz="1300" b="0">
                          <a:solidFill>
                            <a:srgbClr val="F4F7F2"/>
                          </a:solidFill>
                          <a:latin typeface="Arial"/>
                        </a:rPr>
                        <a:t>scripts/v2_generate.py</a:t>
                      </a:r>
                    </a:p>
                  </a:txBody>
                  <a:tcPr marL="73152" marR="73152" marT="27432" marB="27432" anchor="ctr">
                    <a:solidFill>
                      <a:srgbClr val="314539"/>
                    </a:solidFill>
                  </a:tcPr>
                </a:tc>
              </a:tr>
              <a:tr h="429768">
                <a:tc>
                  <a:txBody>
                    <a:bodyPr wrap="square"/>
                    <a:lstStyle/>
                    <a:p>
                      <a:pPr algn="l"/>
                      <a:r>
                        <a:rPr sz="1300" b="0">
                          <a:solidFill>
                            <a:srgbClr val="F4F7F2"/>
                          </a:solidFill>
                          <a:latin typeface="Arial"/>
                        </a:rPr>
                        <a:t>Measures</a:t>
                      </a:r>
                    </a:p>
                  </a:txBody>
                  <a:tcPr marL="73152" marR="73152" marT="27432" marB="27432" anchor="ctr">
                    <a:solidFill>
                      <a:srgbClr val="3A5043"/>
                    </a:solidFill>
                  </a:tcPr>
                </a:tc>
                <a:tc>
                  <a:txBody>
                    <a:bodyPr wrap="square"/>
                    <a:lstStyle/>
                    <a:p>
                      <a:pPr algn="l"/>
                      <a:r>
                        <a:rPr sz="1300" b="0">
                          <a:solidFill>
                            <a:srgbClr val="F4F7F2"/>
                          </a:solidFill>
                          <a:latin typeface="Arial"/>
                        </a:rPr>
                        <a:t>Average, lowest and spread of word confidence, and more (17 in total)</a:t>
                      </a:r>
                    </a:p>
                  </a:txBody>
                  <a:tcPr marL="73152" marR="73152" marT="27432" marB="27432" anchor="ctr">
                    <a:solidFill>
                      <a:srgbClr val="3A5043"/>
                    </a:solidFill>
                  </a:tcPr>
                </a:tc>
                <a:tc>
                  <a:txBody>
                    <a:bodyPr wrap="square"/>
                    <a:lstStyle/>
                    <a:p>
                      <a:pPr algn="l"/>
                      <a:r>
                        <a:rPr sz="1300" b="0">
                          <a:solidFill>
                            <a:srgbClr val="F4F7F2"/>
                          </a:solidFill>
                          <a:latin typeface="Arial"/>
                        </a:rPr>
                        <a:t>src/features_v2.py</a:t>
                      </a:r>
                    </a:p>
                  </a:txBody>
                  <a:tcPr marL="73152" marR="73152" marT="27432" marB="27432" anchor="ctr">
                    <a:solidFill>
                      <a:srgbClr val="3A5043"/>
                    </a:solidFill>
                  </a:tcPr>
                </a:tc>
              </a:tr>
              <a:tr h="429768">
                <a:tc>
                  <a:txBody>
                    <a:bodyPr wrap="square"/>
                    <a:lstStyle/>
                    <a:p>
                      <a:pPr algn="l"/>
                      <a:r>
                        <a:rPr sz="1300" b="0">
                          <a:solidFill>
                            <a:srgbClr val="F4F7F2"/>
                          </a:solidFill>
                          <a:latin typeface="Arial"/>
                        </a:rPr>
                        <a:t>Grading</a:t>
                      </a:r>
                    </a:p>
                  </a:txBody>
                  <a:tcPr marL="73152" marR="73152" marT="27432" marB="27432" anchor="ctr">
                    <a:solidFill>
                      <a:srgbClr val="314539"/>
                    </a:solidFill>
                  </a:tcPr>
                </a:tc>
                <a:tc>
                  <a:txBody>
                    <a:bodyPr wrap="square"/>
                    <a:lstStyle/>
                    <a:p>
                      <a:pPr algn="l"/>
                      <a:r>
                        <a:rPr sz="1300" b="0">
                          <a:solidFill>
                            <a:srgbClr val="F4F7F2"/>
                          </a:solidFill>
                          <a:latin typeface="Arial"/>
                        </a:rPr>
                        <a:t>Judge with written rubric, blind to model and scores</a:t>
                      </a:r>
                    </a:p>
                  </a:txBody>
                  <a:tcPr marL="73152" marR="73152" marT="27432" marB="27432" anchor="ctr">
                    <a:solidFill>
                      <a:srgbClr val="314539"/>
                    </a:solidFill>
                  </a:tcPr>
                </a:tc>
                <a:tc>
                  <a:txBody>
                    <a:bodyPr wrap="square"/>
                    <a:lstStyle/>
                    <a:p>
                      <a:pPr algn="l"/>
                      <a:r>
                        <a:rPr sz="1300" b="0">
                          <a:solidFill>
                            <a:srgbClr val="F4F7F2"/>
                          </a:solidFill>
                          <a:latin typeface="Arial"/>
                        </a:rPr>
                        <a:t>scripts/v2_labels.py</a:t>
                      </a:r>
                    </a:p>
                  </a:txBody>
                  <a:tcPr marL="73152" marR="73152" marT="27432" marB="27432" anchor="ctr">
                    <a:solidFill>
                      <a:srgbClr val="314539"/>
                    </a:solidFill>
                  </a:tcPr>
                </a:tc>
              </a:tr>
              <a:tr h="429768">
                <a:tc>
                  <a:txBody>
                    <a:bodyPr wrap="square"/>
                    <a:lstStyle/>
                    <a:p>
                      <a:pPr algn="l"/>
                      <a:r>
                        <a:rPr sz="1300" b="0">
                          <a:solidFill>
                            <a:srgbClr val="F4F7F2"/>
                          </a:solidFill>
                          <a:latin typeface="Arial"/>
                        </a:rPr>
                        <a:t>Testing</a:t>
                      </a:r>
                    </a:p>
                  </a:txBody>
                  <a:tcPr marL="73152" marR="73152" marT="27432" marB="27432" anchor="ctr">
                    <a:solidFill>
                      <a:srgbClr val="3A5043"/>
                    </a:solidFill>
                  </a:tcPr>
                </a:tc>
                <a:tc>
                  <a:txBody>
                    <a:bodyPr wrap="square"/>
                    <a:lstStyle/>
                    <a:p>
                      <a:pPr algn="l"/>
                      <a:r>
                        <a:rPr sz="1300" b="0">
                          <a:solidFill>
                            <a:srgbClr val="F4F7F2"/>
                          </a:solidFill>
                          <a:latin typeface="Arial"/>
                        </a:rPr>
                        <a:t>Predictions written down first; statistical tests on 1,417 new questions</a:t>
                      </a:r>
                    </a:p>
                  </a:txBody>
                  <a:tcPr marL="73152" marR="73152" marT="27432" marB="27432" anchor="ctr">
                    <a:solidFill>
                      <a:srgbClr val="3A5043"/>
                    </a:solidFill>
                  </a:tcPr>
                </a:tc>
                <a:tc>
                  <a:txBody>
                    <a:bodyPr wrap="square"/>
                    <a:lstStyle/>
                    <a:p>
                      <a:pPr algn="l"/>
                      <a:r>
                        <a:rPr sz="1300" b="0">
                          <a:solidFill>
                            <a:srgbClr val="F4F7F2"/>
                          </a:solidFill>
                          <a:latin typeface="Arial"/>
                        </a:rPr>
                        <a:t>scripts/v2_confirm.py</a:t>
                      </a:r>
                    </a:p>
                  </a:txBody>
                  <a:tcPr marL="73152" marR="73152" marT="27432" marB="27432" anchor="ctr">
                    <a:solidFill>
                      <a:srgbClr val="3A5043"/>
                    </a:solidFill>
                  </a:tcPr>
                </a:tc>
              </a:tr>
              <a:tr h="429768">
                <a:tc>
                  <a:txBody>
                    <a:bodyPr wrap="square"/>
                    <a:lstStyle/>
                    <a:p>
                      <a:pPr algn="l"/>
                      <a:r>
                        <a:rPr sz="1300" b="0">
                          <a:solidFill>
                            <a:srgbClr val="F4F7F2"/>
                          </a:solidFill>
                          <a:latin typeface="Arial"/>
                        </a:rPr>
                        <a:t>Stress tests</a:t>
                      </a:r>
                    </a:p>
                  </a:txBody>
                  <a:tcPr marL="73152" marR="73152" marT="27432" marB="27432" anchor="ctr">
                    <a:solidFill>
                      <a:srgbClr val="314539"/>
                    </a:solidFill>
                  </a:tcPr>
                </a:tc>
                <a:tc>
                  <a:txBody>
                    <a:bodyPr wrap="square"/>
                    <a:lstStyle/>
                    <a:p>
                      <a:pPr algn="l"/>
                      <a:r>
                        <a:rPr sz="1300" b="0">
                          <a:solidFill>
                            <a:srgbClr val="F4F7F2"/>
                          </a:solidFill>
                          <a:latin typeface="Arial"/>
                        </a:rPr>
                        <a:t>Second grader, other prompts, bigger model, other methods</a:t>
                      </a:r>
                    </a:p>
                  </a:txBody>
                  <a:tcPr marL="73152" marR="73152" marT="27432" marB="27432" anchor="ctr">
                    <a:solidFill>
                      <a:srgbClr val="314539"/>
                    </a:solidFill>
                  </a:tcPr>
                </a:tc>
                <a:tc>
                  <a:txBody>
                    <a:bodyPr wrap="square"/>
                    <a:lstStyle/>
                    <a:p>
                      <a:pPr algn="l"/>
                      <a:r>
                        <a:rPr sz="1300" b="0">
                          <a:solidFill>
                            <a:srgbClr val="F4F7F2"/>
                          </a:solidFill>
                          <a:latin typeface="Arial"/>
                        </a:rPr>
                        <a:t>scripts/v3_*.py</a:t>
                      </a:r>
                    </a:p>
                  </a:txBody>
                  <a:tcPr marL="73152" marR="73152" marT="27432" marB="27432" anchor="ctr">
                    <a:solidFill>
                      <a:srgbClr val="314539"/>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A fair test: 3 models, 3 datasets, 10 detectors</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5</a:t>
            </a:r>
          </a:p>
        </p:txBody>
      </p:sp>
      <p:sp>
        <p:nvSpPr>
          <p:cNvPr id="4" name="Rounded Rectangle 3"/>
          <p:cNvSpPr/>
          <p:nvPr/>
        </p:nvSpPr>
        <p:spPr>
          <a:xfrm>
            <a:off x="1325880" y="1417320"/>
            <a:ext cx="2286000" cy="16916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08760" y="1508760"/>
            <a:ext cx="1965960" cy="685800"/>
          </a:xfrm>
          <a:prstGeom prst="rect">
            <a:avLst/>
          </a:prstGeom>
          <a:noFill/>
        </p:spPr>
        <p:txBody>
          <a:bodyPr wrap="square" anchor="t" lIns="45720" rIns="45720">
            <a:spAutoFit/>
          </a:bodyPr>
          <a:lstStyle/>
          <a:p>
            <a:pPr algn="l">
              <a:spcAft>
                <a:spcPts val="600"/>
              </a:spcAft>
            </a:pPr>
            <a:r>
              <a:rPr sz="4000" b="1" i="0">
                <a:solidFill>
                  <a:srgbClr val="A6D97E"/>
                </a:solidFill>
                <a:latin typeface="Arial"/>
              </a:rPr>
              <a:t>3</a:t>
            </a:r>
          </a:p>
        </p:txBody>
      </p:sp>
      <p:sp>
        <p:nvSpPr>
          <p:cNvPr id="6" name="TextBox 5"/>
          <p:cNvSpPr txBox="1"/>
          <p:nvPr/>
        </p:nvSpPr>
        <p:spPr>
          <a:xfrm>
            <a:off x="1508760" y="2167128"/>
            <a:ext cx="19659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AI models: Qwen2.5, Llama-3.2, SmolLM2 (+ a 3B model)</a:t>
            </a:r>
          </a:p>
        </p:txBody>
      </p:sp>
      <p:sp>
        <p:nvSpPr>
          <p:cNvPr id="7" name="Rounded Rectangle 6"/>
          <p:cNvSpPr/>
          <p:nvPr/>
        </p:nvSpPr>
        <p:spPr>
          <a:xfrm>
            <a:off x="3794760" y="1417320"/>
            <a:ext cx="2286000" cy="16916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977640" y="1508760"/>
            <a:ext cx="1965960" cy="685800"/>
          </a:xfrm>
          <a:prstGeom prst="rect">
            <a:avLst/>
          </a:prstGeom>
          <a:noFill/>
        </p:spPr>
        <p:txBody>
          <a:bodyPr wrap="square" anchor="t" lIns="45720" rIns="45720">
            <a:spAutoFit/>
          </a:bodyPr>
          <a:lstStyle/>
          <a:p>
            <a:pPr algn="l">
              <a:spcAft>
                <a:spcPts val="600"/>
              </a:spcAft>
            </a:pPr>
            <a:r>
              <a:rPr sz="4000" b="1" i="0">
                <a:solidFill>
                  <a:srgbClr val="A6D97E"/>
                </a:solidFill>
                <a:latin typeface="Arial"/>
              </a:rPr>
              <a:t>3</a:t>
            </a:r>
          </a:p>
        </p:txBody>
      </p:sp>
      <p:sp>
        <p:nvSpPr>
          <p:cNvPr id="9" name="TextBox 8"/>
          <p:cNvSpPr txBox="1"/>
          <p:nvPr/>
        </p:nvSpPr>
        <p:spPr>
          <a:xfrm>
            <a:off x="3977640" y="2167128"/>
            <a:ext cx="19659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datasets: science, trivia, misconception traps</a:t>
            </a:r>
          </a:p>
        </p:txBody>
      </p:sp>
      <p:sp>
        <p:nvSpPr>
          <p:cNvPr id="10" name="Rounded Rectangle 9"/>
          <p:cNvSpPr/>
          <p:nvPr/>
        </p:nvSpPr>
        <p:spPr>
          <a:xfrm>
            <a:off x="6263640" y="1417320"/>
            <a:ext cx="2286000" cy="16916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46520" y="1508760"/>
            <a:ext cx="1965960" cy="685800"/>
          </a:xfrm>
          <a:prstGeom prst="rect">
            <a:avLst/>
          </a:prstGeom>
          <a:noFill/>
        </p:spPr>
        <p:txBody>
          <a:bodyPr wrap="square" anchor="t" lIns="45720" rIns="45720">
            <a:spAutoFit/>
          </a:bodyPr>
          <a:lstStyle/>
          <a:p>
            <a:pPr algn="l">
              <a:spcAft>
                <a:spcPts val="600"/>
              </a:spcAft>
            </a:pPr>
            <a:r>
              <a:rPr sz="4000" b="1" i="0">
                <a:solidFill>
                  <a:srgbClr val="A6D97E"/>
                </a:solidFill>
                <a:latin typeface="Arial"/>
              </a:rPr>
              <a:t>1,417</a:t>
            </a:r>
          </a:p>
        </p:txBody>
      </p:sp>
      <p:sp>
        <p:nvSpPr>
          <p:cNvPr id="12" name="TextBox 11"/>
          <p:cNvSpPr txBox="1"/>
          <p:nvPr/>
        </p:nvSpPr>
        <p:spPr>
          <a:xfrm>
            <a:off x="6446520" y="2167128"/>
            <a:ext cx="19659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new test questions, never used for design</a:t>
            </a:r>
          </a:p>
        </p:txBody>
      </p:sp>
      <p:sp>
        <p:nvSpPr>
          <p:cNvPr id="13" name="Rounded Rectangle 12"/>
          <p:cNvSpPr/>
          <p:nvPr/>
        </p:nvSpPr>
        <p:spPr>
          <a:xfrm>
            <a:off x="8732520" y="1417320"/>
            <a:ext cx="2286000" cy="16916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15400" y="1508760"/>
            <a:ext cx="1965960" cy="685800"/>
          </a:xfrm>
          <a:prstGeom prst="rect">
            <a:avLst/>
          </a:prstGeom>
          <a:noFill/>
        </p:spPr>
        <p:txBody>
          <a:bodyPr wrap="square" anchor="t" lIns="45720" rIns="45720">
            <a:spAutoFit/>
          </a:bodyPr>
          <a:lstStyle/>
          <a:p>
            <a:pPr algn="l">
              <a:spcAft>
                <a:spcPts val="600"/>
              </a:spcAft>
            </a:pPr>
            <a:r>
              <a:rPr sz="4000" b="1" i="0">
                <a:solidFill>
                  <a:srgbClr val="A6D97E"/>
                </a:solidFill>
                <a:latin typeface="Arial"/>
              </a:rPr>
              <a:t>10</a:t>
            </a:r>
          </a:p>
        </p:txBody>
      </p:sp>
      <p:sp>
        <p:nvSpPr>
          <p:cNvPr id="15" name="TextBox 14"/>
          <p:cNvSpPr txBox="1"/>
          <p:nvPr/>
        </p:nvSpPr>
        <p:spPr>
          <a:xfrm>
            <a:off x="8915400" y="2167128"/>
            <a:ext cx="19659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detectors compared, from 1 to 6 model calls</a:t>
            </a:r>
          </a:p>
        </p:txBody>
      </p:sp>
      <p:graphicFrame>
        <p:nvGraphicFramePr>
          <p:cNvPr id="16" name="Table 15"/>
          <p:cNvGraphicFramePr>
            <a:graphicFrameLocks noGrp="1"/>
          </p:cNvGraphicFramePr>
          <p:nvPr/>
        </p:nvGraphicFramePr>
        <p:xfrm>
          <a:off x="1325880" y="3383280"/>
          <a:ext cx="9692640" cy="2468880"/>
        </p:xfrm>
        <a:graphic>
          <a:graphicData uri="http://schemas.openxmlformats.org/drawingml/2006/table">
            <a:tbl>
              <a:tblPr firstRow="1" bandRow="0">
                <a:tableStyleId>{5940675A-B579-460E-94D1-54222C63F5DA}</a:tableStyleId>
              </a:tblPr>
              <a:tblGrid>
                <a:gridCol w="2377440"/>
                <a:gridCol w="5852160"/>
                <a:gridCol w="1463040"/>
              </a:tblGrid>
              <a:tr h="411480">
                <a:tc>
                  <a:txBody>
                    <a:bodyPr wrap="square"/>
                    <a:lstStyle/>
                    <a:p>
                      <a:pPr algn="l"/>
                      <a:r>
                        <a:rPr sz="1300" b="1">
                          <a:solidFill>
                            <a:srgbClr val="1C2620"/>
                          </a:solidFill>
                          <a:latin typeface="Arial"/>
                        </a:rPr>
                        <a:t>Detector</a:t>
                      </a:r>
                    </a:p>
                  </a:txBody>
                  <a:tcPr marL="73152" marR="73152" marT="27432" marB="27432" anchor="ctr">
                    <a:solidFill>
                      <a:srgbClr val="A6D97E"/>
                    </a:solidFill>
                  </a:tcPr>
                </a:tc>
                <a:tc>
                  <a:txBody>
                    <a:bodyPr wrap="square"/>
                    <a:lstStyle/>
                    <a:p>
                      <a:pPr algn="l"/>
                      <a:r>
                        <a:rPr sz="1300" b="1">
                          <a:solidFill>
                            <a:srgbClr val="1C2620"/>
                          </a:solidFill>
                          <a:latin typeface="Arial"/>
                        </a:rPr>
                        <a:t>How it decides</a:t>
                      </a:r>
                    </a:p>
                  </a:txBody>
                  <a:tcPr marL="73152" marR="73152" marT="27432" marB="27432" anchor="ctr">
                    <a:solidFill>
                      <a:srgbClr val="A6D97E"/>
                    </a:solidFill>
                  </a:tcPr>
                </a:tc>
                <a:tc>
                  <a:txBody>
                    <a:bodyPr wrap="square"/>
                    <a:lstStyle/>
                    <a:p>
                      <a:pPr algn="ctr"/>
                      <a:r>
                        <a:rPr sz="1300" b="1">
                          <a:solidFill>
                            <a:srgbClr val="1C2620"/>
                          </a:solidFill>
                          <a:latin typeface="Arial"/>
                        </a:rPr>
                        <a:t>Model calls</a:t>
                      </a:r>
                    </a:p>
                  </a:txBody>
                  <a:tcPr marL="73152" marR="73152" marT="27432" marB="27432" anchor="ctr">
                    <a:solidFill>
                      <a:srgbClr val="A6D97E"/>
                    </a:solidFill>
                  </a:tcPr>
                </a:tc>
              </a:tr>
              <a:tr h="411480">
                <a:tc>
                  <a:txBody>
                    <a:bodyPr wrap="square"/>
                    <a:lstStyle/>
                    <a:p>
                      <a:pPr algn="l"/>
                      <a:r>
                        <a:rPr sz="1300" b="0">
                          <a:solidFill>
                            <a:srgbClr val="F4F7F2"/>
                          </a:solidFill>
                          <a:latin typeface="Arial"/>
                        </a:rPr>
                        <a:t>Average / weakest word</a:t>
                      </a:r>
                    </a:p>
                  </a:txBody>
                  <a:tcPr marL="73152" marR="73152" marT="27432" marB="27432" anchor="ctr">
                    <a:solidFill>
                      <a:srgbClr val="3A5043"/>
                    </a:solidFill>
                  </a:tcPr>
                </a:tc>
                <a:tc>
                  <a:txBody>
                    <a:bodyPr wrap="square"/>
                    <a:lstStyle/>
                    <a:p>
                      <a:pPr algn="l"/>
                      <a:r>
                        <a:rPr sz="1300" b="0">
                          <a:solidFill>
                            <a:srgbClr val="F4F7F2"/>
                          </a:solidFill>
                          <a:latin typeface="Arial"/>
                        </a:rPr>
                        <a:t>the model's average, or lowest, confidence across the answer</a:t>
                      </a:r>
                    </a:p>
                  </a:txBody>
                  <a:tcPr marL="73152" marR="73152" marT="27432" marB="27432" anchor="ctr">
                    <a:solidFill>
                      <a:srgbClr val="3A5043"/>
                    </a:solidFill>
                  </a:tcPr>
                </a:tc>
                <a:tc>
                  <a:txBody>
                    <a:bodyPr wrap="square"/>
                    <a:lstStyle/>
                    <a:p>
                      <a:pPr algn="ctr"/>
                      <a:r>
                        <a:rPr sz="1300" b="0">
                          <a:solidFill>
                            <a:srgbClr val="F4F7F2"/>
                          </a:solidFill>
                          <a:latin typeface="Arial"/>
                        </a:rPr>
                        <a:t>1</a:t>
                      </a:r>
                    </a:p>
                  </a:txBody>
                  <a:tcPr marL="73152" marR="73152" marT="27432" marB="27432" anchor="ctr">
                    <a:solidFill>
                      <a:srgbClr val="3A5043"/>
                    </a:solidFill>
                  </a:tcPr>
                </a:tc>
              </a:tr>
              <a:tr h="411480">
                <a:tc>
                  <a:txBody>
                    <a:bodyPr wrap="square"/>
                    <a:lstStyle/>
                    <a:p>
                      <a:pPr algn="l"/>
                      <a:r>
                        <a:rPr sz="1300" b="0">
                          <a:solidFill>
                            <a:srgbClr val="F4F7F2"/>
                          </a:solidFill>
                          <a:latin typeface="Arial"/>
                        </a:rPr>
                        <a:t>Ours (DA1)</a:t>
                      </a:r>
                    </a:p>
                  </a:txBody>
                  <a:tcPr marL="73152" marR="73152" marT="27432" marB="27432" anchor="ctr">
                    <a:solidFill>
                      <a:srgbClr val="314539"/>
                    </a:solidFill>
                  </a:tcPr>
                </a:tc>
                <a:tc>
                  <a:txBody>
                    <a:bodyPr wrap="square"/>
                    <a:lstStyle/>
                    <a:p>
                      <a:pPr algn="l"/>
                      <a:r>
                        <a:rPr sz="1300" b="0">
                          <a:solidFill>
                            <a:srgbClr val="F4F7F2"/>
                          </a:solidFill>
                          <a:latin typeface="Arial"/>
                        </a:rPr>
                        <a:t>a small trained model combining 3 (or 17) confidence measures</a:t>
                      </a:r>
                    </a:p>
                  </a:txBody>
                  <a:tcPr marL="73152" marR="73152" marT="27432" marB="27432" anchor="ctr">
                    <a:solidFill>
                      <a:srgbClr val="314539"/>
                    </a:solidFill>
                  </a:tcPr>
                </a:tc>
                <a:tc>
                  <a:txBody>
                    <a:bodyPr wrap="square"/>
                    <a:lstStyle/>
                    <a:p>
                      <a:pPr algn="ctr"/>
                      <a:r>
                        <a:rPr sz="1300" b="0">
                          <a:solidFill>
                            <a:srgbClr val="F4F7F2"/>
                          </a:solidFill>
                          <a:latin typeface="Arial"/>
                        </a:rPr>
                        <a:t>1</a:t>
                      </a:r>
                    </a:p>
                  </a:txBody>
                  <a:tcPr marL="73152" marR="73152" marT="27432" marB="27432" anchor="ctr">
                    <a:solidFill>
                      <a:srgbClr val="314539"/>
                    </a:solidFill>
                  </a:tcPr>
                </a:tc>
              </a:tr>
              <a:tr h="411480">
                <a:tc>
                  <a:txBody>
                    <a:bodyPr wrap="square"/>
                    <a:lstStyle/>
                    <a:p>
                      <a:pPr algn="l"/>
                      <a:r>
                        <a:rPr sz="1300" b="0">
                          <a:solidFill>
                            <a:srgbClr val="F4F7F2"/>
                          </a:solidFill>
                          <a:latin typeface="Arial"/>
                        </a:rPr>
                        <a:t>Self-consistency</a:t>
                      </a:r>
                    </a:p>
                  </a:txBody>
                  <a:tcPr marL="73152" marR="73152" marT="27432" marB="27432" anchor="ctr">
                    <a:solidFill>
                      <a:srgbClr val="3A5043"/>
                    </a:solidFill>
                  </a:tcPr>
                </a:tc>
                <a:tc>
                  <a:txBody>
                    <a:bodyPr wrap="square"/>
                    <a:lstStyle/>
                    <a:p>
                      <a:pPr algn="l"/>
                      <a:r>
                        <a:rPr sz="1300" b="0">
                          <a:solidFill>
                            <a:srgbClr val="F4F7F2"/>
                          </a:solidFill>
                          <a:latin typeface="Arial"/>
                        </a:rPr>
                        <a:t>ask 5 more times; do the answers agree?</a:t>
                      </a:r>
                    </a:p>
                  </a:txBody>
                  <a:tcPr marL="73152" marR="73152" marT="27432" marB="27432" anchor="ctr">
                    <a:solidFill>
                      <a:srgbClr val="3A5043"/>
                    </a:solidFill>
                  </a:tcPr>
                </a:tc>
                <a:tc>
                  <a:txBody>
                    <a:bodyPr wrap="square"/>
                    <a:lstStyle/>
                    <a:p>
                      <a:pPr algn="ctr"/>
                      <a:r>
                        <a:rPr sz="1300" b="0">
                          <a:solidFill>
                            <a:srgbClr val="F4F7F2"/>
                          </a:solidFill>
                          <a:latin typeface="Arial"/>
                        </a:rPr>
                        <a:t>6</a:t>
                      </a:r>
                    </a:p>
                  </a:txBody>
                  <a:tcPr marL="73152" marR="73152" marT="27432" marB="27432" anchor="ctr">
                    <a:solidFill>
                      <a:srgbClr val="3A5043"/>
                    </a:solidFill>
                  </a:tcPr>
                </a:tc>
              </a:tr>
              <a:tr h="411480">
                <a:tc>
                  <a:txBody>
                    <a:bodyPr wrap="square"/>
                    <a:lstStyle/>
                    <a:p>
                      <a:pPr algn="l"/>
                      <a:r>
                        <a:rPr sz="1300" b="0">
                          <a:solidFill>
                            <a:srgbClr val="F4F7F2"/>
                          </a:solidFill>
                          <a:latin typeface="Arial"/>
                        </a:rPr>
                        <a:t>Self-check</a:t>
                      </a:r>
                    </a:p>
                  </a:txBody>
                  <a:tcPr marL="73152" marR="73152" marT="27432" marB="27432" anchor="ctr">
                    <a:solidFill>
                      <a:srgbClr val="314539"/>
                    </a:solidFill>
                  </a:tcPr>
                </a:tc>
                <a:tc>
                  <a:txBody>
                    <a:bodyPr wrap="square"/>
                    <a:lstStyle/>
                    <a:p>
                      <a:pPr algn="l"/>
                      <a:r>
                        <a:rPr sz="1300" b="0">
                          <a:solidFill>
                            <a:srgbClr val="F4F7F2"/>
                          </a:solidFill>
                          <a:latin typeface="Arial"/>
                        </a:rPr>
                        <a:t>ask the model: “Is this answer true?”</a:t>
                      </a:r>
                    </a:p>
                  </a:txBody>
                  <a:tcPr marL="73152" marR="73152" marT="27432" marB="27432" anchor="ctr">
                    <a:solidFill>
                      <a:srgbClr val="314539"/>
                    </a:solidFill>
                  </a:tcPr>
                </a:tc>
                <a:tc>
                  <a:txBody>
                    <a:bodyPr wrap="square"/>
                    <a:lstStyle/>
                    <a:p>
                      <a:pPr algn="ctr"/>
                      <a:r>
                        <a:rPr sz="1300" b="0">
                          <a:solidFill>
                            <a:srgbClr val="F4F7F2"/>
                          </a:solidFill>
                          <a:latin typeface="Arial"/>
                        </a:rPr>
                        <a:t>2</a:t>
                      </a:r>
                    </a:p>
                  </a:txBody>
                  <a:tcPr marL="73152" marR="73152" marT="27432" marB="27432" anchor="ctr">
                    <a:solidFill>
                      <a:srgbClr val="314539"/>
                    </a:solidFill>
                  </a:tcPr>
                </a:tc>
              </a:tr>
              <a:tr h="411480">
                <a:tc>
                  <a:txBody>
                    <a:bodyPr wrap="square"/>
                    <a:lstStyle/>
                    <a:p>
                      <a:pPr algn="l"/>
                      <a:r>
                        <a:rPr sz="1300" b="0">
                          <a:solidFill>
                            <a:srgbClr val="F4F7F2"/>
                          </a:solidFill>
                          <a:latin typeface="Arial"/>
                        </a:rPr>
                        <a:t>Meaning check</a:t>
                      </a:r>
                    </a:p>
                  </a:txBody>
                  <a:tcPr marL="73152" marR="73152" marT="27432" marB="27432" anchor="ctr">
                    <a:solidFill>
                      <a:srgbClr val="3A5043"/>
                    </a:solidFill>
                  </a:tcPr>
                </a:tc>
                <a:tc>
                  <a:txBody>
                    <a:bodyPr wrap="square"/>
                    <a:lstStyle/>
                    <a:p>
                      <a:pPr algn="l"/>
                      <a:r>
                        <a:rPr sz="1300" b="0">
                          <a:solidFill>
                            <a:srgbClr val="F4F7F2"/>
                          </a:solidFill>
                          <a:latin typeface="Arial"/>
                        </a:rPr>
                        <a:t>ask 5 more times; do the answers mean the same thing?</a:t>
                      </a:r>
                    </a:p>
                  </a:txBody>
                  <a:tcPr marL="73152" marR="73152" marT="27432" marB="27432" anchor="ctr">
                    <a:solidFill>
                      <a:srgbClr val="3A5043"/>
                    </a:solidFill>
                  </a:tcPr>
                </a:tc>
                <a:tc>
                  <a:txBody>
                    <a:bodyPr wrap="square"/>
                    <a:lstStyle/>
                    <a:p>
                      <a:pPr algn="ctr"/>
                      <a:r>
                        <a:rPr sz="1300" b="0">
                          <a:solidFill>
                            <a:srgbClr val="F4F7F2"/>
                          </a:solidFill>
                          <a:latin typeface="Arial"/>
                        </a:rPr>
                        <a:t>6</a:t>
                      </a:r>
                    </a:p>
                  </a:txBody>
                  <a:tcPr marL="73152" marR="73152" marT="27432" marB="27432" anchor="ctr">
                    <a:solidFill>
                      <a:srgbClr val="3A5043"/>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Result 1: it catches mistakes on facts and science</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6</a:t>
            </a:r>
          </a:p>
        </p:txBody>
      </p:sp>
      <p:sp>
        <p:nvSpPr>
          <p:cNvPr id="4" name="Rounded Rectangle 3"/>
          <p:cNvSpPr/>
          <p:nvPr/>
        </p:nvSpPr>
        <p:spPr>
          <a:xfrm>
            <a:off x="1325880" y="1325880"/>
            <a:ext cx="5394960" cy="44805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detection_scores.png"/>
          <p:cNvPicPr>
            <a:picLocks noChangeAspect="1"/>
          </p:cNvPicPr>
          <p:nvPr/>
        </p:nvPicPr>
        <p:blipFill>
          <a:blip r:embed="rId3"/>
          <a:stretch>
            <a:fillRect/>
          </a:stretch>
        </p:blipFill>
        <p:spPr>
          <a:xfrm>
            <a:off x="1435608" y="1706213"/>
            <a:ext cx="5175504" cy="3719893"/>
          </a:xfrm>
          <a:prstGeom prst="rect">
            <a:avLst/>
          </a:prstGeom>
        </p:spPr>
      </p:pic>
      <p:sp>
        <p:nvSpPr>
          <p:cNvPr id="6" name="TextBox 5"/>
          <p:cNvSpPr txBox="1"/>
          <p:nvPr/>
        </p:nvSpPr>
        <p:spPr>
          <a:xfrm>
            <a:off x="6995160" y="1371600"/>
            <a:ext cx="4023360" cy="685800"/>
          </a:xfrm>
          <a:prstGeom prst="rect">
            <a:avLst/>
          </a:prstGeom>
          <a:noFill/>
        </p:spPr>
        <p:txBody>
          <a:bodyPr wrap="square" anchor="t" lIns="45720" rIns="45720">
            <a:spAutoFit/>
          </a:bodyPr>
          <a:lstStyle/>
          <a:p>
            <a:pPr algn="l">
              <a:spcAft>
                <a:spcPts val="600"/>
              </a:spcAft>
            </a:pPr>
            <a:r>
              <a:rPr sz="3400" b="1" i="0">
                <a:solidFill>
                  <a:srgbClr val="A6D97E"/>
                </a:solidFill>
                <a:latin typeface="Arial"/>
              </a:rPr>
              <a:t>up to 0.81</a:t>
            </a:r>
          </a:p>
        </p:txBody>
      </p:sp>
      <p:sp>
        <p:nvSpPr>
          <p:cNvPr id="7" name="TextBox 6"/>
          <p:cNvSpPr txBox="1"/>
          <p:nvPr/>
        </p:nvSpPr>
        <p:spPr>
          <a:xfrm>
            <a:off x="6995160" y="2029967"/>
            <a:ext cx="40233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on trivia questions (0.70–0.81 across the 3 models)</a:t>
            </a:r>
          </a:p>
        </p:txBody>
      </p:sp>
      <p:sp>
        <p:nvSpPr>
          <p:cNvPr id="8" name="TextBox 7"/>
          <p:cNvSpPr txBox="1"/>
          <p:nvPr/>
        </p:nvSpPr>
        <p:spPr>
          <a:xfrm>
            <a:off x="6995160" y="2697480"/>
            <a:ext cx="4023360" cy="685800"/>
          </a:xfrm>
          <a:prstGeom prst="rect">
            <a:avLst/>
          </a:prstGeom>
          <a:noFill/>
        </p:spPr>
        <p:txBody>
          <a:bodyPr wrap="square" anchor="t" lIns="45720" rIns="45720">
            <a:spAutoFit/>
          </a:bodyPr>
          <a:lstStyle/>
          <a:p>
            <a:pPr algn="l">
              <a:spcAft>
                <a:spcPts val="600"/>
              </a:spcAft>
            </a:pPr>
            <a:r>
              <a:rPr sz="3400" b="1" i="0">
                <a:solidFill>
                  <a:srgbClr val="A6D97E"/>
                </a:solidFill>
                <a:latin typeface="Arial"/>
              </a:rPr>
              <a:t>0.68–0.73</a:t>
            </a:r>
          </a:p>
        </p:txBody>
      </p:sp>
      <p:sp>
        <p:nvSpPr>
          <p:cNvPr id="9" name="TextBox 8"/>
          <p:cNvSpPr txBox="1"/>
          <p:nvPr/>
        </p:nvSpPr>
        <p:spPr>
          <a:xfrm>
            <a:off x="6995160" y="3355848"/>
            <a:ext cx="40233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on school science, consistent across all 3 models</a:t>
            </a:r>
          </a:p>
        </p:txBody>
      </p:sp>
      <p:sp>
        <p:nvSpPr>
          <p:cNvPr id="10" name="TextBox 9"/>
          <p:cNvSpPr txBox="1"/>
          <p:nvPr/>
        </p:nvSpPr>
        <p:spPr>
          <a:xfrm>
            <a:off x="6995160" y="4023360"/>
            <a:ext cx="4023360" cy="685800"/>
          </a:xfrm>
          <a:prstGeom prst="rect">
            <a:avLst/>
          </a:prstGeom>
          <a:noFill/>
        </p:spPr>
        <p:txBody>
          <a:bodyPr wrap="square" anchor="t" lIns="45720" rIns="45720">
            <a:spAutoFit/>
          </a:bodyPr>
          <a:lstStyle/>
          <a:p>
            <a:pPr algn="l">
              <a:spcAft>
                <a:spcPts val="600"/>
              </a:spcAft>
            </a:pPr>
            <a:r>
              <a:rPr sz="3400" b="1" i="0">
                <a:solidFill>
                  <a:srgbClr val="F6B26B"/>
                </a:solidFill>
                <a:latin typeface="Arial"/>
              </a:rPr>
              <a:t>0.60 · 0.61</a:t>
            </a:r>
          </a:p>
        </p:txBody>
      </p:sp>
      <p:sp>
        <p:nvSpPr>
          <p:cNvPr id="11" name="TextBox 10"/>
          <p:cNvSpPr txBox="1"/>
          <p:nvPr/>
        </p:nvSpPr>
        <p:spPr>
          <a:xfrm>
            <a:off x="6995160" y="4681728"/>
            <a:ext cx="402336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on misconception traps for Qwen and SmolLM2: the puzzle we solved next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Result 2: one call beats six</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7</a:t>
            </a:r>
          </a:p>
        </p:txBody>
      </p:sp>
      <p:graphicFrame>
        <p:nvGraphicFramePr>
          <p:cNvPr id="4" name="Table 3"/>
          <p:cNvGraphicFramePr>
            <a:graphicFrameLocks noGrp="1"/>
          </p:cNvGraphicFramePr>
          <p:nvPr/>
        </p:nvGraphicFramePr>
        <p:xfrm>
          <a:off x="1325880" y="1463040"/>
          <a:ext cx="9692640" cy="3017520"/>
        </p:xfrm>
        <a:graphic>
          <a:graphicData uri="http://schemas.openxmlformats.org/drawingml/2006/table">
            <a:tbl>
              <a:tblPr firstRow="1" bandRow="0">
                <a:tableStyleId>{5940675A-B579-460E-94D1-54222C63F5DA}</a:tableStyleId>
              </a:tblPr>
              <a:tblGrid>
                <a:gridCol w="2651760"/>
                <a:gridCol w="731520"/>
                <a:gridCol w="1051560"/>
                <a:gridCol w="1051560"/>
                <a:gridCol w="1051560"/>
                <a:gridCol w="1051560"/>
                <a:gridCol w="1051560"/>
                <a:gridCol w="1051560"/>
              </a:tblGrid>
              <a:tr h="502920">
                <a:tc>
                  <a:txBody>
                    <a:bodyPr wrap="square"/>
                    <a:lstStyle/>
                    <a:p>
                      <a:pPr algn="l"/>
                      <a:r>
                        <a:rPr sz="1400" b="1">
                          <a:solidFill>
                            <a:srgbClr val="1C2620"/>
                          </a:solidFill>
                          <a:latin typeface="Arial"/>
                        </a:rPr>
                        <a:t>Detector</a:t>
                      </a:r>
                    </a:p>
                  </a:txBody>
                  <a:tcPr marL="73152" marR="73152" marT="27432" marB="27432" anchor="ctr">
                    <a:solidFill>
                      <a:srgbClr val="A6D97E"/>
                    </a:solidFill>
                  </a:tcPr>
                </a:tc>
                <a:tc>
                  <a:txBody>
                    <a:bodyPr wrap="square"/>
                    <a:lstStyle/>
                    <a:p>
                      <a:pPr algn="ctr"/>
                      <a:r>
                        <a:rPr sz="1400" b="1">
                          <a:solidFill>
                            <a:srgbClr val="1C2620"/>
                          </a:solidFill>
                          <a:latin typeface="Arial"/>
                        </a:rPr>
                        <a:t>Calls</a:t>
                      </a:r>
                    </a:p>
                  </a:txBody>
                  <a:tcPr marL="73152" marR="73152" marT="27432" marB="27432" anchor="ctr">
                    <a:solidFill>
                      <a:srgbClr val="A6D97E"/>
                    </a:solidFill>
                  </a:tcPr>
                </a:tc>
                <a:tc>
                  <a:txBody>
                    <a:bodyPr wrap="square"/>
                    <a:lstStyle/>
                    <a:p>
                      <a:pPr algn="ctr"/>
                      <a:r>
                        <a:rPr sz="1400" b="1">
                          <a:solidFill>
                            <a:srgbClr val="1C2620"/>
                          </a:solidFill>
                          <a:latin typeface="Arial"/>
                        </a:rPr>
                        <a:t>Trap Qwen</a:t>
                      </a:r>
                    </a:p>
                  </a:txBody>
                  <a:tcPr marL="73152" marR="73152" marT="27432" marB="27432" anchor="ctr">
                    <a:solidFill>
                      <a:srgbClr val="A6D97E"/>
                    </a:solidFill>
                  </a:tcPr>
                </a:tc>
                <a:tc>
                  <a:txBody>
                    <a:bodyPr wrap="square"/>
                    <a:lstStyle/>
                    <a:p>
                      <a:pPr algn="ctr"/>
                      <a:r>
                        <a:rPr sz="1400" b="1">
                          <a:solidFill>
                            <a:srgbClr val="1C2620"/>
                          </a:solidFill>
                          <a:latin typeface="Arial"/>
                        </a:rPr>
                        <a:t>Trap Llama</a:t>
                      </a:r>
                    </a:p>
                  </a:txBody>
                  <a:tcPr marL="73152" marR="73152" marT="27432" marB="27432" anchor="ctr">
                    <a:solidFill>
                      <a:srgbClr val="A6D97E"/>
                    </a:solidFill>
                  </a:tcPr>
                </a:tc>
                <a:tc>
                  <a:txBody>
                    <a:bodyPr wrap="square"/>
                    <a:lstStyle/>
                    <a:p>
                      <a:pPr algn="ctr"/>
                      <a:r>
                        <a:rPr sz="1400" b="1">
                          <a:solidFill>
                            <a:srgbClr val="1C2620"/>
                          </a:solidFill>
                          <a:latin typeface="Arial"/>
                        </a:rPr>
                        <a:t>Trap Smol</a:t>
                      </a:r>
                    </a:p>
                  </a:txBody>
                  <a:tcPr marL="73152" marR="73152" marT="27432" marB="27432" anchor="ctr">
                    <a:solidFill>
                      <a:srgbClr val="A6D97E"/>
                    </a:solidFill>
                  </a:tcPr>
                </a:tc>
                <a:tc>
                  <a:txBody>
                    <a:bodyPr wrap="square"/>
                    <a:lstStyle/>
                    <a:p>
                      <a:pPr algn="ctr"/>
                      <a:r>
                        <a:rPr sz="1400" b="1">
                          <a:solidFill>
                            <a:srgbClr val="1C2620"/>
                          </a:solidFill>
                          <a:latin typeface="Arial"/>
                        </a:rPr>
                        <a:t>Sci Qwen</a:t>
                      </a:r>
                    </a:p>
                  </a:txBody>
                  <a:tcPr marL="73152" marR="73152" marT="27432" marB="27432" anchor="ctr">
                    <a:solidFill>
                      <a:srgbClr val="A6D97E"/>
                    </a:solidFill>
                  </a:tcPr>
                </a:tc>
                <a:tc>
                  <a:txBody>
                    <a:bodyPr wrap="square"/>
                    <a:lstStyle/>
                    <a:p>
                      <a:pPr algn="ctr"/>
                      <a:r>
                        <a:rPr sz="1400" b="1">
                          <a:solidFill>
                            <a:srgbClr val="1C2620"/>
                          </a:solidFill>
                          <a:latin typeface="Arial"/>
                        </a:rPr>
                        <a:t>Sci Llama</a:t>
                      </a:r>
                    </a:p>
                  </a:txBody>
                  <a:tcPr marL="73152" marR="73152" marT="27432" marB="27432" anchor="ctr">
                    <a:solidFill>
                      <a:srgbClr val="A6D97E"/>
                    </a:solidFill>
                  </a:tcPr>
                </a:tc>
                <a:tc>
                  <a:txBody>
                    <a:bodyPr wrap="square"/>
                    <a:lstStyle/>
                    <a:p>
                      <a:pPr algn="ctr"/>
                      <a:r>
                        <a:rPr sz="1400" b="1">
                          <a:solidFill>
                            <a:srgbClr val="1C2620"/>
                          </a:solidFill>
                          <a:latin typeface="Arial"/>
                        </a:rPr>
                        <a:t>Sci Smol</a:t>
                      </a:r>
                    </a:p>
                  </a:txBody>
                  <a:tcPr marL="73152" marR="73152" marT="27432" marB="27432" anchor="ctr">
                    <a:solidFill>
                      <a:srgbClr val="A6D97E"/>
                    </a:solidFill>
                  </a:tcPr>
                </a:tc>
              </a:tr>
              <a:tr h="502920">
                <a:tc>
                  <a:txBody>
                    <a:bodyPr wrap="square"/>
                    <a:lstStyle/>
                    <a:p>
                      <a:pPr algn="l"/>
                      <a:r>
                        <a:rPr sz="1400" b="0">
                          <a:solidFill>
                            <a:srgbClr val="F4F7F2"/>
                          </a:solidFill>
                          <a:latin typeface="Arial"/>
                        </a:rPr>
                        <a:t>Average word confidence</a:t>
                      </a:r>
                    </a:p>
                  </a:txBody>
                  <a:tcPr marL="73152" marR="73152" marT="27432" marB="27432" anchor="ctr">
                    <a:solidFill>
                      <a:srgbClr val="3A5043"/>
                    </a:solidFill>
                  </a:tcPr>
                </a:tc>
                <a:tc>
                  <a:txBody>
                    <a:bodyPr wrap="square"/>
                    <a:lstStyle/>
                    <a:p>
                      <a:pPr algn="ctr"/>
                      <a:r>
                        <a:rPr sz="1400" b="0">
                          <a:solidFill>
                            <a:srgbClr val="F4F7F2"/>
                          </a:solidFill>
                          <a:latin typeface="Arial"/>
                        </a:rPr>
                        <a:t>1</a:t>
                      </a:r>
                    </a:p>
                  </a:txBody>
                  <a:tcPr marL="73152" marR="73152" marT="27432" marB="27432" anchor="ctr">
                    <a:solidFill>
                      <a:srgbClr val="3A5043"/>
                    </a:solidFill>
                  </a:tcPr>
                </a:tc>
                <a:tc>
                  <a:txBody>
                    <a:bodyPr wrap="square"/>
                    <a:lstStyle/>
                    <a:p>
                      <a:pPr algn="ctr"/>
                      <a:r>
                        <a:rPr sz="1400" b="0">
                          <a:solidFill>
                            <a:srgbClr val="F4F7F2"/>
                          </a:solidFill>
                          <a:latin typeface="Arial"/>
                        </a:rPr>
                        <a:t>0.47</a:t>
                      </a:r>
                    </a:p>
                  </a:txBody>
                  <a:tcPr marL="73152" marR="73152" marT="27432" marB="27432" anchor="ctr">
                    <a:solidFill>
                      <a:srgbClr val="3A5043"/>
                    </a:solidFill>
                  </a:tcPr>
                </a:tc>
                <a:tc>
                  <a:txBody>
                    <a:bodyPr wrap="square"/>
                    <a:lstStyle/>
                    <a:p>
                      <a:pPr algn="ctr"/>
                      <a:r>
                        <a:rPr sz="1400" b="0">
                          <a:solidFill>
                            <a:srgbClr val="F4F7F2"/>
                          </a:solidFill>
                          <a:latin typeface="Arial"/>
                        </a:rPr>
                        <a:t>0.65</a:t>
                      </a:r>
                    </a:p>
                  </a:txBody>
                  <a:tcPr marL="73152" marR="73152" marT="27432" marB="27432" anchor="ctr">
                    <a:solidFill>
                      <a:srgbClr val="3A5043"/>
                    </a:solidFill>
                  </a:tcPr>
                </a:tc>
                <a:tc>
                  <a:txBody>
                    <a:bodyPr wrap="square"/>
                    <a:lstStyle/>
                    <a:p>
                      <a:pPr algn="ctr"/>
                      <a:r>
                        <a:rPr sz="1400" b="0">
                          <a:solidFill>
                            <a:srgbClr val="F4F7F2"/>
                          </a:solidFill>
                          <a:latin typeface="Arial"/>
                        </a:rPr>
                        <a:t>0.50</a:t>
                      </a:r>
                    </a:p>
                  </a:txBody>
                  <a:tcPr marL="73152" marR="73152" marT="27432" marB="27432" anchor="ctr">
                    <a:solidFill>
                      <a:srgbClr val="3A5043"/>
                    </a:solidFill>
                  </a:tcPr>
                </a:tc>
                <a:tc>
                  <a:txBody>
                    <a:bodyPr wrap="square"/>
                    <a:lstStyle/>
                    <a:p>
                      <a:pPr algn="ctr"/>
                      <a:r>
                        <a:rPr sz="1400" b="0">
                          <a:solidFill>
                            <a:srgbClr val="F4F7F2"/>
                          </a:solidFill>
                          <a:latin typeface="Arial"/>
                        </a:rPr>
                        <a:t>0.69</a:t>
                      </a:r>
                    </a:p>
                  </a:txBody>
                  <a:tcPr marL="73152" marR="73152" marT="27432" marB="27432" anchor="ctr">
                    <a:solidFill>
                      <a:srgbClr val="3A5043"/>
                    </a:solidFill>
                  </a:tcPr>
                </a:tc>
                <a:tc>
                  <a:txBody>
                    <a:bodyPr wrap="square"/>
                    <a:lstStyle/>
                    <a:p>
                      <a:pPr algn="ctr"/>
                      <a:r>
                        <a:rPr sz="1400" b="0">
                          <a:solidFill>
                            <a:srgbClr val="F4F7F2"/>
                          </a:solidFill>
                          <a:latin typeface="Arial"/>
                        </a:rPr>
                        <a:t>0.66</a:t>
                      </a:r>
                    </a:p>
                  </a:txBody>
                  <a:tcPr marL="73152" marR="73152" marT="27432" marB="27432" anchor="ctr">
                    <a:solidFill>
                      <a:srgbClr val="3A5043"/>
                    </a:solidFill>
                  </a:tcPr>
                </a:tc>
                <a:tc>
                  <a:txBody>
                    <a:bodyPr wrap="square"/>
                    <a:lstStyle/>
                    <a:p>
                      <a:pPr algn="ctr"/>
                      <a:r>
                        <a:rPr sz="1400" b="0">
                          <a:solidFill>
                            <a:srgbClr val="F4F7F2"/>
                          </a:solidFill>
                          <a:latin typeface="Arial"/>
                        </a:rPr>
                        <a:t>0.70</a:t>
                      </a:r>
                    </a:p>
                  </a:txBody>
                  <a:tcPr marL="73152" marR="73152" marT="27432" marB="27432" anchor="ctr">
                    <a:solidFill>
                      <a:srgbClr val="3A5043"/>
                    </a:solidFill>
                  </a:tcPr>
                </a:tc>
              </a:tr>
              <a:tr h="502920">
                <a:tc>
                  <a:txBody>
                    <a:bodyPr wrap="square"/>
                    <a:lstStyle/>
                    <a:p>
                      <a:pPr algn="l"/>
                      <a:r>
                        <a:rPr sz="1400" b="0">
                          <a:solidFill>
                            <a:srgbClr val="F4F7F2"/>
                          </a:solidFill>
                          <a:latin typeface="Arial"/>
                        </a:rPr>
                        <a:t>Ours (DA1, 3 measures)</a:t>
                      </a:r>
                    </a:p>
                  </a:txBody>
                  <a:tcPr marL="73152" marR="73152" marT="27432" marB="27432" anchor="ctr">
                    <a:solidFill>
                      <a:srgbClr val="314539"/>
                    </a:solidFill>
                  </a:tcPr>
                </a:tc>
                <a:tc>
                  <a:txBody>
                    <a:bodyPr wrap="square"/>
                    <a:lstStyle/>
                    <a:p>
                      <a:pPr algn="ctr"/>
                      <a:r>
                        <a:rPr sz="1400" b="0">
                          <a:solidFill>
                            <a:srgbClr val="F4F7F2"/>
                          </a:solidFill>
                          <a:latin typeface="Arial"/>
                        </a:rPr>
                        <a:t>1</a:t>
                      </a:r>
                    </a:p>
                  </a:txBody>
                  <a:tcPr marL="73152" marR="73152" marT="27432" marB="27432" anchor="ctr">
                    <a:solidFill>
                      <a:srgbClr val="314539"/>
                    </a:solidFill>
                  </a:tcPr>
                </a:tc>
                <a:tc>
                  <a:txBody>
                    <a:bodyPr wrap="square"/>
                    <a:lstStyle/>
                    <a:p>
                      <a:pPr algn="ctr"/>
                      <a:r>
                        <a:rPr sz="1400" b="1">
                          <a:solidFill>
                            <a:srgbClr val="F6B26B"/>
                          </a:solidFill>
                          <a:latin typeface="Arial"/>
                        </a:rPr>
                        <a:t>0.60</a:t>
                      </a:r>
                    </a:p>
                  </a:txBody>
                  <a:tcPr marL="73152" marR="73152" marT="27432" marB="27432" anchor="ctr">
                    <a:solidFill>
                      <a:srgbClr val="314539"/>
                    </a:solidFill>
                  </a:tcPr>
                </a:tc>
                <a:tc>
                  <a:txBody>
                    <a:bodyPr wrap="square"/>
                    <a:lstStyle/>
                    <a:p>
                      <a:pPr algn="ctr"/>
                      <a:r>
                        <a:rPr sz="1400" b="1">
                          <a:solidFill>
                            <a:srgbClr val="F6B26B"/>
                          </a:solidFill>
                          <a:latin typeface="Arial"/>
                        </a:rPr>
                        <a:t>0.73</a:t>
                      </a:r>
                    </a:p>
                  </a:txBody>
                  <a:tcPr marL="73152" marR="73152" marT="27432" marB="27432" anchor="ctr">
                    <a:solidFill>
                      <a:srgbClr val="314539"/>
                    </a:solidFill>
                  </a:tcPr>
                </a:tc>
                <a:tc>
                  <a:txBody>
                    <a:bodyPr wrap="square"/>
                    <a:lstStyle/>
                    <a:p>
                      <a:pPr algn="ctr"/>
                      <a:r>
                        <a:rPr sz="1400" b="1">
                          <a:solidFill>
                            <a:srgbClr val="F6B26B"/>
                          </a:solidFill>
                          <a:latin typeface="Arial"/>
                        </a:rPr>
                        <a:t>0.61</a:t>
                      </a:r>
                    </a:p>
                  </a:txBody>
                  <a:tcPr marL="73152" marR="73152" marT="27432" marB="27432" anchor="ctr">
                    <a:solidFill>
                      <a:srgbClr val="314539"/>
                    </a:solidFill>
                  </a:tcPr>
                </a:tc>
                <a:tc>
                  <a:txBody>
                    <a:bodyPr wrap="square"/>
                    <a:lstStyle/>
                    <a:p>
                      <a:pPr algn="ctr"/>
                      <a:r>
                        <a:rPr sz="1400" b="1">
                          <a:solidFill>
                            <a:srgbClr val="F6B26B"/>
                          </a:solidFill>
                          <a:latin typeface="Arial"/>
                        </a:rPr>
                        <a:t>0.73</a:t>
                      </a:r>
                    </a:p>
                  </a:txBody>
                  <a:tcPr marL="73152" marR="73152" marT="27432" marB="27432" anchor="ctr">
                    <a:solidFill>
                      <a:srgbClr val="314539"/>
                    </a:solidFill>
                  </a:tcPr>
                </a:tc>
                <a:tc>
                  <a:txBody>
                    <a:bodyPr wrap="square"/>
                    <a:lstStyle/>
                    <a:p>
                      <a:pPr algn="ctr"/>
                      <a:r>
                        <a:rPr sz="1400" b="1">
                          <a:solidFill>
                            <a:srgbClr val="F6B26B"/>
                          </a:solidFill>
                          <a:latin typeface="Arial"/>
                        </a:rPr>
                        <a:t>0.68</a:t>
                      </a:r>
                    </a:p>
                  </a:txBody>
                  <a:tcPr marL="73152" marR="73152" marT="27432" marB="27432" anchor="ctr">
                    <a:solidFill>
                      <a:srgbClr val="314539"/>
                    </a:solidFill>
                  </a:tcPr>
                </a:tc>
                <a:tc>
                  <a:txBody>
                    <a:bodyPr wrap="square"/>
                    <a:lstStyle/>
                    <a:p>
                      <a:pPr algn="ctr"/>
                      <a:r>
                        <a:rPr sz="1400" b="1">
                          <a:solidFill>
                            <a:srgbClr val="F6B26B"/>
                          </a:solidFill>
                          <a:latin typeface="Arial"/>
                        </a:rPr>
                        <a:t>0.73</a:t>
                      </a:r>
                    </a:p>
                  </a:txBody>
                  <a:tcPr marL="73152" marR="73152" marT="27432" marB="27432" anchor="ctr">
                    <a:solidFill>
                      <a:srgbClr val="314539"/>
                    </a:solidFill>
                  </a:tcPr>
                </a:tc>
              </a:tr>
              <a:tr h="502920">
                <a:tc>
                  <a:txBody>
                    <a:bodyPr wrap="square"/>
                    <a:lstStyle/>
                    <a:p>
                      <a:pPr algn="l"/>
                      <a:r>
                        <a:rPr sz="1400" b="0">
                          <a:solidFill>
                            <a:srgbClr val="F4F7F2"/>
                          </a:solidFill>
                          <a:latin typeface="Arial"/>
                        </a:rPr>
                        <a:t>Self-consistency</a:t>
                      </a:r>
                    </a:p>
                  </a:txBody>
                  <a:tcPr marL="73152" marR="73152" marT="27432" marB="27432" anchor="ctr">
                    <a:solidFill>
                      <a:srgbClr val="3A5043"/>
                    </a:solidFill>
                  </a:tcPr>
                </a:tc>
                <a:tc>
                  <a:txBody>
                    <a:bodyPr wrap="square"/>
                    <a:lstStyle/>
                    <a:p>
                      <a:pPr algn="ctr"/>
                      <a:r>
                        <a:rPr sz="1400" b="0">
                          <a:solidFill>
                            <a:srgbClr val="F4F7F2"/>
                          </a:solidFill>
                          <a:latin typeface="Arial"/>
                        </a:rPr>
                        <a:t>6</a:t>
                      </a:r>
                    </a:p>
                  </a:txBody>
                  <a:tcPr marL="73152" marR="73152" marT="27432" marB="27432" anchor="ctr">
                    <a:solidFill>
                      <a:srgbClr val="3A5043"/>
                    </a:solidFill>
                  </a:tcPr>
                </a:tc>
                <a:tc>
                  <a:txBody>
                    <a:bodyPr wrap="square"/>
                    <a:lstStyle/>
                    <a:p>
                      <a:pPr algn="ctr"/>
                      <a:r>
                        <a:rPr sz="1400" b="0">
                          <a:solidFill>
                            <a:srgbClr val="F4F7F2"/>
                          </a:solidFill>
                          <a:latin typeface="Arial"/>
                        </a:rPr>
                        <a:t>0.52</a:t>
                      </a:r>
                    </a:p>
                  </a:txBody>
                  <a:tcPr marL="73152" marR="73152" marT="27432" marB="27432" anchor="ctr">
                    <a:solidFill>
                      <a:srgbClr val="3A5043"/>
                    </a:solidFill>
                  </a:tcPr>
                </a:tc>
                <a:tc>
                  <a:txBody>
                    <a:bodyPr wrap="square"/>
                    <a:lstStyle/>
                    <a:p>
                      <a:pPr algn="ctr"/>
                      <a:r>
                        <a:rPr sz="1400" b="0">
                          <a:solidFill>
                            <a:srgbClr val="F4F7F2"/>
                          </a:solidFill>
                          <a:latin typeface="Arial"/>
                        </a:rPr>
                        <a:t>0.51</a:t>
                      </a:r>
                    </a:p>
                  </a:txBody>
                  <a:tcPr marL="73152" marR="73152" marT="27432" marB="27432" anchor="ctr">
                    <a:solidFill>
                      <a:srgbClr val="3A5043"/>
                    </a:solidFill>
                  </a:tcPr>
                </a:tc>
                <a:tc>
                  <a:txBody>
                    <a:bodyPr wrap="square"/>
                    <a:lstStyle/>
                    <a:p>
                      <a:pPr algn="ctr"/>
                      <a:r>
                        <a:rPr sz="1400" b="0">
                          <a:solidFill>
                            <a:srgbClr val="F4F7F2"/>
                          </a:solidFill>
                          <a:latin typeface="Arial"/>
                        </a:rPr>
                        <a:t>0.50</a:t>
                      </a:r>
                    </a:p>
                  </a:txBody>
                  <a:tcPr marL="73152" marR="73152" marT="27432" marB="27432" anchor="ctr">
                    <a:solidFill>
                      <a:srgbClr val="3A5043"/>
                    </a:solidFill>
                  </a:tcPr>
                </a:tc>
                <a:tc>
                  <a:txBody>
                    <a:bodyPr wrap="square"/>
                    <a:lstStyle/>
                    <a:p>
                      <a:pPr algn="ctr"/>
                      <a:r>
                        <a:rPr sz="1400" b="0">
                          <a:solidFill>
                            <a:srgbClr val="F4F7F2"/>
                          </a:solidFill>
                          <a:latin typeface="Arial"/>
                        </a:rPr>
                        <a:t>0.57</a:t>
                      </a:r>
                    </a:p>
                  </a:txBody>
                  <a:tcPr marL="73152" marR="73152" marT="27432" marB="27432" anchor="ctr">
                    <a:solidFill>
                      <a:srgbClr val="3A5043"/>
                    </a:solidFill>
                  </a:tcPr>
                </a:tc>
                <a:tc>
                  <a:txBody>
                    <a:bodyPr wrap="square"/>
                    <a:lstStyle/>
                    <a:p>
                      <a:pPr algn="ctr"/>
                      <a:r>
                        <a:rPr sz="1400" b="0">
                          <a:solidFill>
                            <a:srgbClr val="F4F7F2"/>
                          </a:solidFill>
                          <a:latin typeface="Arial"/>
                        </a:rPr>
                        <a:t>0.60</a:t>
                      </a:r>
                    </a:p>
                  </a:txBody>
                  <a:tcPr marL="73152" marR="73152" marT="27432" marB="27432" anchor="ctr">
                    <a:solidFill>
                      <a:srgbClr val="3A5043"/>
                    </a:solidFill>
                  </a:tcPr>
                </a:tc>
                <a:tc>
                  <a:txBody>
                    <a:bodyPr wrap="square"/>
                    <a:lstStyle/>
                    <a:p>
                      <a:pPr algn="ctr"/>
                      <a:r>
                        <a:rPr sz="1400" b="0">
                          <a:solidFill>
                            <a:srgbClr val="F4F7F2"/>
                          </a:solidFill>
                          <a:latin typeface="Arial"/>
                        </a:rPr>
                        <a:t>0.55</a:t>
                      </a:r>
                    </a:p>
                  </a:txBody>
                  <a:tcPr marL="73152" marR="73152" marT="27432" marB="27432" anchor="ctr">
                    <a:solidFill>
                      <a:srgbClr val="3A5043"/>
                    </a:solidFill>
                  </a:tcPr>
                </a:tc>
              </a:tr>
              <a:tr h="502920">
                <a:tc>
                  <a:txBody>
                    <a:bodyPr wrap="square"/>
                    <a:lstStyle/>
                    <a:p>
                      <a:pPr algn="l"/>
                      <a:r>
                        <a:rPr sz="1400" b="0">
                          <a:solidFill>
                            <a:srgbClr val="F4F7F2"/>
                          </a:solidFill>
                          <a:latin typeface="Arial"/>
                        </a:rPr>
                        <a:t>Self-check “is it true?”</a:t>
                      </a:r>
                    </a:p>
                  </a:txBody>
                  <a:tcPr marL="73152" marR="73152" marT="27432" marB="27432" anchor="ctr">
                    <a:solidFill>
                      <a:srgbClr val="314539"/>
                    </a:solidFill>
                  </a:tcPr>
                </a:tc>
                <a:tc>
                  <a:txBody>
                    <a:bodyPr wrap="square"/>
                    <a:lstStyle/>
                    <a:p>
                      <a:pPr algn="ctr"/>
                      <a:r>
                        <a:rPr sz="1400" b="0">
                          <a:solidFill>
                            <a:srgbClr val="F4F7F2"/>
                          </a:solidFill>
                          <a:latin typeface="Arial"/>
                        </a:rPr>
                        <a:t>2</a:t>
                      </a:r>
                    </a:p>
                  </a:txBody>
                  <a:tcPr marL="73152" marR="73152" marT="27432" marB="27432" anchor="ctr">
                    <a:solidFill>
                      <a:srgbClr val="314539"/>
                    </a:solidFill>
                  </a:tcPr>
                </a:tc>
                <a:tc>
                  <a:txBody>
                    <a:bodyPr wrap="square"/>
                    <a:lstStyle/>
                    <a:p>
                      <a:pPr algn="ctr"/>
                      <a:r>
                        <a:rPr sz="1400" b="0">
                          <a:solidFill>
                            <a:srgbClr val="F4F7F2"/>
                          </a:solidFill>
                          <a:latin typeface="Arial"/>
                        </a:rPr>
                        <a:t>0.43</a:t>
                      </a:r>
                    </a:p>
                  </a:txBody>
                  <a:tcPr marL="73152" marR="73152" marT="27432" marB="27432" anchor="ctr">
                    <a:solidFill>
                      <a:srgbClr val="314539"/>
                    </a:solidFill>
                  </a:tcPr>
                </a:tc>
                <a:tc>
                  <a:txBody>
                    <a:bodyPr wrap="square"/>
                    <a:lstStyle/>
                    <a:p>
                      <a:pPr algn="ctr"/>
                      <a:r>
                        <a:rPr sz="1400" b="0">
                          <a:solidFill>
                            <a:srgbClr val="F4F7F2"/>
                          </a:solidFill>
                          <a:latin typeface="Arial"/>
                        </a:rPr>
                        <a:t>0.38</a:t>
                      </a:r>
                    </a:p>
                  </a:txBody>
                  <a:tcPr marL="73152" marR="73152" marT="27432" marB="27432" anchor="ctr">
                    <a:solidFill>
                      <a:srgbClr val="314539"/>
                    </a:solidFill>
                  </a:tcPr>
                </a:tc>
                <a:tc>
                  <a:txBody>
                    <a:bodyPr wrap="square"/>
                    <a:lstStyle/>
                    <a:p>
                      <a:pPr algn="ctr"/>
                      <a:r>
                        <a:rPr sz="1400" b="0">
                          <a:solidFill>
                            <a:srgbClr val="F4F7F2"/>
                          </a:solidFill>
                          <a:latin typeface="Arial"/>
                        </a:rPr>
                        <a:t>0.48</a:t>
                      </a:r>
                    </a:p>
                  </a:txBody>
                  <a:tcPr marL="73152" marR="73152" marT="27432" marB="27432" anchor="ctr">
                    <a:solidFill>
                      <a:srgbClr val="314539"/>
                    </a:solidFill>
                  </a:tcPr>
                </a:tc>
                <a:tc>
                  <a:txBody>
                    <a:bodyPr wrap="square"/>
                    <a:lstStyle/>
                    <a:p>
                      <a:pPr algn="ctr"/>
                      <a:r>
                        <a:rPr sz="1400" b="0">
                          <a:solidFill>
                            <a:srgbClr val="F4F7F2"/>
                          </a:solidFill>
                          <a:latin typeface="Arial"/>
                        </a:rPr>
                        <a:t>0.68</a:t>
                      </a:r>
                    </a:p>
                  </a:txBody>
                  <a:tcPr marL="73152" marR="73152" marT="27432" marB="27432" anchor="ctr">
                    <a:solidFill>
                      <a:srgbClr val="314539"/>
                    </a:solidFill>
                  </a:tcPr>
                </a:tc>
                <a:tc>
                  <a:txBody>
                    <a:bodyPr wrap="square"/>
                    <a:lstStyle/>
                    <a:p>
                      <a:pPr algn="ctr"/>
                      <a:r>
                        <a:rPr sz="1400" b="0">
                          <a:solidFill>
                            <a:srgbClr val="F4F7F2"/>
                          </a:solidFill>
                          <a:latin typeface="Arial"/>
                        </a:rPr>
                        <a:t>0.57</a:t>
                      </a:r>
                    </a:p>
                  </a:txBody>
                  <a:tcPr marL="73152" marR="73152" marT="27432" marB="27432" anchor="ctr">
                    <a:solidFill>
                      <a:srgbClr val="314539"/>
                    </a:solidFill>
                  </a:tcPr>
                </a:tc>
                <a:tc>
                  <a:txBody>
                    <a:bodyPr wrap="square"/>
                    <a:lstStyle/>
                    <a:p>
                      <a:pPr algn="ctr"/>
                      <a:r>
                        <a:rPr sz="1400" b="0">
                          <a:solidFill>
                            <a:srgbClr val="F4F7F2"/>
                          </a:solidFill>
                          <a:latin typeface="Arial"/>
                        </a:rPr>
                        <a:t>0.68</a:t>
                      </a:r>
                    </a:p>
                  </a:txBody>
                  <a:tcPr marL="73152" marR="73152" marT="27432" marB="27432" anchor="ctr">
                    <a:solidFill>
                      <a:srgbClr val="314539"/>
                    </a:solidFill>
                  </a:tcPr>
                </a:tc>
              </a:tr>
              <a:tr h="502920">
                <a:tc>
                  <a:txBody>
                    <a:bodyPr wrap="square"/>
                    <a:lstStyle/>
                    <a:p>
                      <a:pPr algn="l"/>
                      <a:r>
                        <a:rPr sz="1400" b="0">
                          <a:solidFill>
                            <a:srgbClr val="F4F7F2"/>
                          </a:solidFill>
                          <a:latin typeface="Arial"/>
                        </a:rPr>
                        <a:t>Meaning check</a:t>
                      </a:r>
                    </a:p>
                  </a:txBody>
                  <a:tcPr marL="73152" marR="73152" marT="27432" marB="27432" anchor="ctr">
                    <a:solidFill>
                      <a:srgbClr val="3A5043"/>
                    </a:solidFill>
                  </a:tcPr>
                </a:tc>
                <a:tc>
                  <a:txBody>
                    <a:bodyPr wrap="square"/>
                    <a:lstStyle/>
                    <a:p>
                      <a:pPr algn="ctr"/>
                      <a:r>
                        <a:rPr sz="1400" b="0">
                          <a:solidFill>
                            <a:srgbClr val="F4F7F2"/>
                          </a:solidFill>
                          <a:latin typeface="Arial"/>
                        </a:rPr>
                        <a:t>6</a:t>
                      </a:r>
                    </a:p>
                  </a:txBody>
                  <a:tcPr marL="73152" marR="73152" marT="27432" marB="27432" anchor="ctr">
                    <a:solidFill>
                      <a:srgbClr val="3A5043"/>
                    </a:solidFill>
                  </a:tcPr>
                </a:tc>
                <a:tc>
                  <a:txBody>
                    <a:bodyPr wrap="square"/>
                    <a:lstStyle/>
                    <a:p>
                      <a:pPr algn="ctr"/>
                      <a:r>
                        <a:rPr sz="1400" b="0">
                          <a:solidFill>
                            <a:srgbClr val="F4F7F2"/>
                          </a:solidFill>
                          <a:latin typeface="Arial"/>
                        </a:rPr>
                        <a:t>0.49</a:t>
                      </a:r>
                    </a:p>
                  </a:txBody>
                  <a:tcPr marL="73152" marR="73152" marT="27432" marB="27432" anchor="ctr">
                    <a:solidFill>
                      <a:srgbClr val="3A5043"/>
                    </a:solidFill>
                  </a:tcPr>
                </a:tc>
                <a:tc>
                  <a:txBody>
                    <a:bodyPr wrap="square"/>
                    <a:lstStyle/>
                    <a:p>
                      <a:pPr algn="ctr"/>
                      <a:r>
                        <a:rPr sz="1400" b="0">
                          <a:solidFill>
                            <a:srgbClr val="F4F7F2"/>
                          </a:solidFill>
                          <a:latin typeface="Arial"/>
                        </a:rPr>
                        <a:t>0.57</a:t>
                      </a:r>
                    </a:p>
                  </a:txBody>
                  <a:tcPr marL="73152" marR="73152" marT="27432" marB="27432" anchor="ctr">
                    <a:solidFill>
                      <a:srgbClr val="3A5043"/>
                    </a:solidFill>
                  </a:tcPr>
                </a:tc>
                <a:tc>
                  <a:txBody>
                    <a:bodyPr wrap="square"/>
                    <a:lstStyle/>
                    <a:p>
                      <a:pPr algn="ctr"/>
                      <a:r>
                        <a:rPr sz="1400" b="0">
                          <a:solidFill>
                            <a:srgbClr val="F4F7F2"/>
                          </a:solidFill>
                          <a:latin typeface="Arial"/>
                        </a:rPr>
                        <a:t>0.51</a:t>
                      </a:r>
                    </a:p>
                  </a:txBody>
                  <a:tcPr marL="73152" marR="73152" marT="27432" marB="27432" anchor="ctr">
                    <a:solidFill>
                      <a:srgbClr val="3A5043"/>
                    </a:solidFill>
                  </a:tcPr>
                </a:tc>
                <a:tc>
                  <a:txBody>
                    <a:bodyPr wrap="square"/>
                    <a:lstStyle/>
                    <a:p>
                      <a:pPr algn="ctr"/>
                      <a:r>
                        <a:rPr sz="1400" b="0">
                          <a:solidFill>
                            <a:srgbClr val="F4F7F2"/>
                          </a:solidFill>
                          <a:latin typeface="Arial"/>
                        </a:rPr>
                        <a:t>0.71</a:t>
                      </a:r>
                    </a:p>
                  </a:txBody>
                  <a:tcPr marL="73152" marR="73152" marT="27432" marB="27432" anchor="ctr">
                    <a:solidFill>
                      <a:srgbClr val="3A5043"/>
                    </a:solidFill>
                  </a:tcPr>
                </a:tc>
                <a:tc>
                  <a:txBody>
                    <a:bodyPr wrap="square"/>
                    <a:lstStyle/>
                    <a:p>
                      <a:pPr algn="ctr"/>
                      <a:r>
                        <a:rPr sz="1400" b="0">
                          <a:solidFill>
                            <a:srgbClr val="F4F7F2"/>
                          </a:solidFill>
                          <a:latin typeface="Arial"/>
                        </a:rPr>
                        <a:t>0.62</a:t>
                      </a:r>
                    </a:p>
                  </a:txBody>
                  <a:tcPr marL="73152" marR="73152" marT="27432" marB="27432" anchor="ctr">
                    <a:solidFill>
                      <a:srgbClr val="3A5043"/>
                    </a:solidFill>
                  </a:tcPr>
                </a:tc>
                <a:tc>
                  <a:txBody>
                    <a:bodyPr wrap="square"/>
                    <a:lstStyle/>
                    <a:p>
                      <a:pPr algn="ctr"/>
                      <a:r>
                        <a:rPr sz="1400" b="0">
                          <a:solidFill>
                            <a:srgbClr val="F4F7F2"/>
                          </a:solidFill>
                          <a:latin typeface="Arial"/>
                        </a:rPr>
                        <a:t>0.69</a:t>
                      </a:r>
                    </a:p>
                  </a:txBody>
                  <a:tcPr marL="73152" marR="73152" marT="27432" marB="27432" anchor="ctr">
                    <a:solidFill>
                      <a:srgbClr val="3A5043"/>
                    </a:solidFill>
                  </a:tcPr>
                </a:tc>
              </a:tr>
            </a:tbl>
          </a:graphicData>
        </a:graphic>
      </p:graphicFrame>
      <p:sp>
        <p:nvSpPr>
          <p:cNvPr id="5" name="Rounded Rectangle 4"/>
          <p:cNvSpPr/>
          <p:nvPr/>
        </p:nvSpPr>
        <p:spPr>
          <a:xfrm>
            <a:off x="1325880" y="4617720"/>
            <a:ext cx="9692640" cy="1005840"/>
          </a:xfrm>
          <a:prstGeom prst="roundRect">
            <a:avLst>
              <a:gd name="adj" fmla="val 8000"/>
            </a:avLst>
          </a:prstGeom>
          <a:solidFill>
            <a:srgbClr val="A6D9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600200" y="4663440"/>
            <a:ext cx="9144000" cy="914400"/>
          </a:xfrm>
          <a:prstGeom prst="rect">
            <a:avLst/>
          </a:prstGeom>
          <a:noFill/>
        </p:spPr>
        <p:txBody>
          <a:bodyPr wrap="square" anchor="ctr" lIns="45720" rIns="45720">
            <a:spAutoFit/>
          </a:bodyPr>
          <a:lstStyle/>
          <a:p>
            <a:pPr algn="l">
              <a:spcAft>
                <a:spcPts val="600"/>
              </a:spcAft>
            </a:pPr>
            <a:r>
              <a:rPr sz="1600" b="1" i="0">
                <a:solidFill>
                  <a:srgbClr val="1C2620"/>
                </a:solidFill>
                <a:latin typeface="Arial"/>
              </a:rPr>
              <a:t>Our 1-call detector beat every multi-call method in </a:t>
            </a:r>
            <a:r>
              <a:rPr sz="1600" b="1" i="0">
                <a:solidFill>
                  <a:srgbClr val="1C2620"/>
                </a:solidFill>
                <a:latin typeface="Arial"/>
              </a:rPr>
              <a:t>6 of 6</a:t>
            </a:r>
            <a:r>
              <a:rPr sz="1600" b="0" i="0">
                <a:solidFill>
                  <a:srgbClr val="1C2620"/>
                </a:solidFill>
                <a:latin typeface="Arial"/>
              </a:rPr>
              <a:t> settings, at 1/6 of the cost. Orange = best in column; 0.5 = guessing.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Result 3: the blind spot is learned misconceptions</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8</a:t>
            </a:r>
          </a:p>
        </p:txBody>
      </p:sp>
      <p:sp>
        <p:nvSpPr>
          <p:cNvPr id="4" name="Rounded Rectangle 3"/>
          <p:cNvSpPr/>
          <p:nvPr/>
        </p:nvSpPr>
        <p:spPr>
          <a:xfrm>
            <a:off x="1325880" y="1325880"/>
            <a:ext cx="5760720" cy="402336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v3_signals.png"/>
          <p:cNvPicPr>
            <a:picLocks noChangeAspect="1"/>
          </p:cNvPicPr>
          <p:nvPr/>
        </p:nvPicPr>
        <p:blipFill>
          <a:blip r:embed="rId3"/>
          <a:stretch>
            <a:fillRect/>
          </a:stretch>
        </p:blipFill>
        <p:spPr>
          <a:xfrm>
            <a:off x="1435608" y="1516858"/>
            <a:ext cx="5541264" cy="3641402"/>
          </a:xfrm>
          <a:prstGeom prst="rect">
            <a:avLst/>
          </a:prstGeom>
        </p:spPr>
      </p:pic>
      <p:sp>
        <p:nvSpPr>
          <p:cNvPr id="6" name="TextBox 5"/>
          <p:cNvSpPr txBox="1"/>
          <p:nvPr/>
        </p:nvSpPr>
        <p:spPr>
          <a:xfrm>
            <a:off x="7360919" y="1371600"/>
            <a:ext cx="3657600" cy="685800"/>
          </a:xfrm>
          <a:prstGeom prst="rect">
            <a:avLst/>
          </a:prstGeom>
          <a:noFill/>
        </p:spPr>
        <p:txBody>
          <a:bodyPr wrap="square" anchor="t" lIns="45720" rIns="45720">
            <a:spAutoFit/>
          </a:bodyPr>
          <a:lstStyle/>
          <a:p>
            <a:pPr algn="l">
              <a:spcAft>
                <a:spcPts val="600"/>
              </a:spcAft>
            </a:pPr>
            <a:r>
              <a:rPr sz="3400" b="1" i="0">
                <a:solidFill>
                  <a:srgbClr val="A6D97E"/>
                </a:solidFill>
                <a:latin typeface="Arial"/>
              </a:rPr>
              <a:t>0.58–0.71</a:t>
            </a:r>
          </a:p>
        </p:txBody>
      </p:sp>
      <p:sp>
        <p:nvSpPr>
          <p:cNvPr id="7" name="TextBox 6"/>
          <p:cNvSpPr txBox="1"/>
          <p:nvPr/>
        </p:nvSpPr>
        <p:spPr>
          <a:xfrm>
            <a:off x="7360919" y="2029967"/>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made-up facts (wrong names, numbers): caught by the model's confidence</a:t>
            </a:r>
          </a:p>
        </p:txBody>
      </p:sp>
      <p:sp>
        <p:nvSpPr>
          <p:cNvPr id="8" name="TextBox 7"/>
          <p:cNvSpPr txBox="1"/>
          <p:nvPr/>
        </p:nvSpPr>
        <p:spPr>
          <a:xfrm>
            <a:off x="7360919" y="2697480"/>
            <a:ext cx="3657600" cy="685800"/>
          </a:xfrm>
          <a:prstGeom prst="rect">
            <a:avLst/>
          </a:prstGeom>
          <a:noFill/>
        </p:spPr>
        <p:txBody>
          <a:bodyPr wrap="square" anchor="t" lIns="45720" rIns="45720">
            <a:spAutoFit/>
          </a:bodyPr>
          <a:lstStyle/>
          <a:p>
            <a:pPr algn="l">
              <a:spcAft>
                <a:spcPts val="600"/>
              </a:spcAft>
            </a:pPr>
            <a:r>
              <a:rPr sz="3400" b="1" i="0">
                <a:solidFill>
                  <a:srgbClr val="F6B26B"/>
                </a:solidFill>
                <a:latin typeface="Arial"/>
              </a:rPr>
              <a:t>0.42 · 0.45</a:t>
            </a:r>
          </a:p>
        </p:txBody>
      </p:sp>
      <p:sp>
        <p:nvSpPr>
          <p:cNvPr id="9" name="TextBox 8"/>
          <p:cNvSpPr txBox="1"/>
          <p:nvPr/>
        </p:nvSpPr>
        <p:spPr>
          <a:xfrm>
            <a:off x="7360919" y="3355848"/>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repeated misconceptions (Qwen, SmolLM2): as confident as correct answers</a:t>
            </a:r>
          </a:p>
        </p:txBody>
      </p:sp>
      <p:sp>
        <p:nvSpPr>
          <p:cNvPr id="10" name="TextBox 9"/>
          <p:cNvSpPr txBox="1"/>
          <p:nvPr/>
        </p:nvSpPr>
        <p:spPr>
          <a:xfrm>
            <a:off x="7360919" y="4023360"/>
            <a:ext cx="3657600" cy="685800"/>
          </a:xfrm>
          <a:prstGeom prst="rect">
            <a:avLst/>
          </a:prstGeom>
          <a:noFill/>
        </p:spPr>
        <p:txBody>
          <a:bodyPr wrap="square" anchor="t" lIns="45720" rIns="45720">
            <a:spAutoFit/>
          </a:bodyPr>
          <a:lstStyle/>
          <a:p>
            <a:pPr algn="l">
              <a:spcAft>
                <a:spcPts val="600"/>
              </a:spcAft>
            </a:pPr>
            <a:r>
              <a:rPr sz="2800" b="1" i="0">
                <a:solidFill>
                  <a:srgbClr val="F4F7F2"/>
                </a:solidFill>
                <a:latin typeface="Arial"/>
              </a:rPr>
              <a:t>All methods</a:t>
            </a:r>
          </a:p>
        </p:txBody>
      </p:sp>
      <p:sp>
        <p:nvSpPr>
          <p:cNvPr id="11" name="TextBox 10"/>
          <p:cNvSpPr txBox="1"/>
          <p:nvPr/>
        </p:nvSpPr>
        <p:spPr>
          <a:xfrm>
            <a:off x="7360919" y="4681728"/>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share this blind spot: self-check and meaning check too</a:t>
            </a:r>
          </a:p>
        </p:txBody>
      </p:sp>
      <p:sp>
        <p:nvSpPr>
          <p:cNvPr id="12" name="TextBox 11"/>
          <p:cNvSpPr txBox="1"/>
          <p:nvPr/>
        </p:nvSpPr>
        <p:spPr>
          <a:xfrm>
            <a:off x="1325880" y="5486400"/>
            <a:ext cx="5760720" cy="548640"/>
          </a:xfrm>
          <a:prstGeom prst="rect">
            <a:avLst/>
          </a:prstGeom>
          <a:noFill/>
        </p:spPr>
        <p:txBody>
          <a:bodyPr wrap="square" anchor="t" lIns="45720" rIns="45720">
            <a:spAutoFit/>
          </a:bodyPr>
          <a:lstStyle/>
          <a:p>
            <a:pPr algn="l">
              <a:spcAft>
                <a:spcPts val="600"/>
              </a:spcAft>
            </a:pPr>
            <a:r>
              <a:rPr sz="1200" b="0" i="0">
                <a:solidFill>
                  <a:srgbClr val="C2CFC5"/>
                </a:solidFill>
                <a:latin typeface="Arial"/>
              </a:rPr>
              <a:t>Hollow = misconception mistakes, filled = other mistakes, for four kinds of detector. Left of 0.5 = invisible.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What a confident mistake looks like</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9</a:t>
            </a:r>
          </a:p>
        </p:txBody>
      </p:sp>
      <p:graphicFrame>
        <p:nvGraphicFramePr>
          <p:cNvPr id="4" name="Table 3"/>
          <p:cNvGraphicFramePr>
            <a:graphicFrameLocks noGrp="1"/>
          </p:cNvGraphicFramePr>
          <p:nvPr/>
        </p:nvGraphicFramePr>
        <p:xfrm>
          <a:off x="1325880" y="1463040"/>
          <a:ext cx="9692639" cy="3291840"/>
        </p:xfrm>
        <a:graphic>
          <a:graphicData uri="http://schemas.openxmlformats.org/drawingml/2006/table">
            <a:tbl>
              <a:tblPr firstRow="1" bandRow="0">
                <a:tableStyleId>{5940675A-B579-460E-94D1-54222C63F5DA}</a:tableStyleId>
              </a:tblPr>
              <a:tblGrid>
                <a:gridCol w="3749039"/>
                <a:gridCol w="2148840"/>
                <a:gridCol w="1417320"/>
                <a:gridCol w="2377440"/>
              </a:tblGrid>
              <a:tr h="658368">
                <a:tc>
                  <a:txBody>
                    <a:bodyPr wrap="square"/>
                    <a:lstStyle/>
                    <a:p>
                      <a:pPr algn="l"/>
                      <a:r>
                        <a:rPr sz="1400" b="1">
                          <a:solidFill>
                            <a:srgbClr val="1C2620"/>
                          </a:solidFill>
                          <a:latin typeface="Arial"/>
                        </a:rPr>
                        <a:t>Question</a:t>
                      </a:r>
                    </a:p>
                  </a:txBody>
                  <a:tcPr marL="73152" marR="73152" marT="27432" marB="27432" anchor="ctr">
                    <a:solidFill>
                      <a:srgbClr val="A6D97E"/>
                    </a:solidFill>
                  </a:tcPr>
                </a:tc>
                <a:tc>
                  <a:txBody>
                    <a:bodyPr wrap="square"/>
                    <a:lstStyle/>
                    <a:p>
                      <a:pPr algn="l"/>
                      <a:r>
                        <a:rPr sz="1400" b="1">
                          <a:solidFill>
                            <a:srgbClr val="1C2620"/>
                          </a:solidFill>
                          <a:latin typeface="Arial"/>
                        </a:rPr>
                        <a:t>All three models say</a:t>
                      </a:r>
                    </a:p>
                  </a:txBody>
                  <a:tcPr marL="73152" marR="73152" marT="27432" marB="27432" anchor="ctr">
                    <a:solidFill>
                      <a:srgbClr val="A6D97E"/>
                    </a:solidFill>
                  </a:tcPr>
                </a:tc>
                <a:tc>
                  <a:txBody>
                    <a:bodyPr wrap="square"/>
                    <a:lstStyle/>
                    <a:p>
                      <a:pPr algn="l"/>
                      <a:r>
                        <a:rPr sz="1400" b="1">
                          <a:solidFill>
                            <a:srgbClr val="1C2620"/>
                          </a:solidFill>
                          <a:latin typeface="Arial"/>
                        </a:rPr>
                        <a:t>Correct</a:t>
                      </a:r>
                    </a:p>
                  </a:txBody>
                  <a:tcPr marL="73152" marR="73152" marT="27432" marB="27432" anchor="ctr">
                    <a:solidFill>
                      <a:srgbClr val="A6D97E"/>
                    </a:solidFill>
                  </a:tcPr>
                </a:tc>
                <a:tc>
                  <a:txBody>
                    <a:bodyPr wrap="square"/>
                    <a:lstStyle/>
                    <a:p>
                      <a:pPr algn="ctr"/>
                      <a:r>
                        <a:rPr sz="1400" b="1">
                          <a:solidFill>
                            <a:srgbClr val="1C2620"/>
                          </a:solidFill>
                          <a:latin typeface="Arial"/>
                        </a:rPr>
                        <a:t>More confident than … % of its answers (Q / L / S)</a:t>
                      </a:r>
                    </a:p>
                  </a:txBody>
                  <a:tcPr marL="73152" marR="73152" marT="27432" marB="27432" anchor="ctr">
                    <a:solidFill>
                      <a:srgbClr val="A6D97E"/>
                    </a:solidFill>
                  </a:tcPr>
                </a:tc>
              </a:tr>
              <a:tr h="658368">
                <a:tc>
                  <a:txBody>
                    <a:bodyPr wrap="square"/>
                    <a:lstStyle/>
                    <a:p>
                      <a:pPr algn="l"/>
                      <a:r>
                        <a:rPr sz="1400" b="0">
                          <a:solidFill>
                            <a:srgbClr val="F4F7F2"/>
                          </a:solidFill>
                          <a:latin typeface="Arial"/>
                        </a:rPr>
                        <a:t>What exact words did Neil Armstrong say on the moon?</a:t>
                      </a:r>
                    </a:p>
                  </a:txBody>
                  <a:tcPr marL="73152" marR="73152" marT="27432" marB="27432" anchor="ctr">
                    <a:solidFill>
                      <a:srgbClr val="3A5043"/>
                    </a:solidFill>
                  </a:tcPr>
                </a:tc>
                <a:tc>
                  <a:txBody>
                    <a:bodyPr wrap="square"/>
                    <a:lstStyle/>
                    <a:p>
                      <a:pPr algn="l"/>
                      <a:r>
                        <a:rPr sz="1400" b="0">
                          <a:solidFill>
                            <a:srgbClr val="F4F7F2"/>
                          </a:solidFill>
                          <a:latin typeface="Arial"/>
                        </a:rPr>
                        <a:t>“one small step for man”</a:t>
                      </a:r>
                    </a:p>
                  </a:txBody>
                  <a:tcPr marL="73152" marR="73152" marT="27432" marB="27432" anchor="ctr">
                    <a:solidFill>
                      <a:srgbClr val="3A5043"/>
                    </a:solidFill>
                  </a:tcPr>
                </a:tc>
                <a:tc>
                  <a:txBody>
                    <a:bodyPr wrap="square"/>
                    <a:lstStyle/>
                    <a:p>
                      <a:pPr algn="l"/>
                      <a:r>
                        <a:rPr sz="1400" b="0">
                          <a:solidFill>
                            <a:srgbClr val="F4F7F2"/>
                          </a:solidFill>
                          <a:latin typeface="Arial"/>
                        </a:rPr>
                        <a:t>“…for a man”</a:t>
                      </a:r>
                    </a:p>
                  </a:txBody>
                  <a:tcPr marL="73152" marR="73152" marT="27432" marB="27432" anchor="ctr">
                    <a:solidFill>
                      <a:srgbClr val="3A5043"/>
                    </a:solidFill>
                  </a:tcPr>
                </a:tc>
                <a:tc>
                  <a:txBody>
                    <a:bodyPr wrap="square"/>
                    <a:lstStyle/>
                    <a:p>
                      <a:pPr algn="ctr"/>
                      <a:r>
                        <a:rPr sz="1400" b="0">
                          <a:solidFill>
                            <a:srgbClr val="F4F7F2"/>
                          </a:solidFill>
                          <a:latin typeface="Arial"/>
                        </a:rPr>
                        <a:t>98 / 95 / 100</a:t>
                      </a:r>
                    </a:p>
                  </a:txBody>
                  <a:tcPr marL="73152" marR="73152" marT="27432" marB="27432" anchor="ctr">
                    <a:solidFill>
                      <a:srgbClr val="3A5043"/>
                    </a:solidFill>
                  </a:tcPr>
                </a:tc>
              </a:tr>
              <a:tr h="658368">
                <a:tc>
                  <a:txBody>
                    <a:bodyPr wrap="square"/>
                    <a:lstStyle/>
                    <a:p>
                      <a:pPr algn="l"/>
                      <a:r>
                        <a:rPr sz="1400" b="0">
                          <a:solidFill>
                            <a:srgbClr val="F4F7F2"/>
                          </a:solidFill>
                          <a:latin typeface="Arial"/>
                        </a:rPr>
                        <a:t>What did SOS originally stand for?</a:t>
                      </a:r>
                    </a:p>
                  </a:txBody>
                  <a:tcPr marL="73152" marR="73152" marT="27432" marB="27432" anchor="ctr">
                    <a:solidFill>
                      <a:srgbClr val="314539"/>
                    </a:solidFill>
                  </a:tcPr>
                </a:tc>
                <a:tc>
                  <a:txBody>
                    <a:bodyPr wrap="square"/>
                    <a:lstStyle/>
                    <a:p>
                      <a:pPr algn="l"/>
                      <a:r>
                        <a:rPr sz="1400" b="0">
                          <a:solidFill>
                            <a:srgbClr val="F4F7F2"/>
                          </a:solidFill>
                          <a:latin typeface="Arial"/>
                        </a:rPr>
                        <a:t>“Save Our Souls”</a:t>
                      </a:r>
                    </a:p>
                  </a:txBody>
                  <a:tcPr marL="73152" marR="73152" marT="27432" marB="27432" anchor="ctr">
                    <a:solidFill>
                      <a:srgbClr val="314539"/>
                    </a:solidFill>
                  </a:tcPr>
                </a:tc>
                <a:tc>
                  <a:txBody>
                    <a:bodyPr wrap="square"/>
                    <a:lstStyle/>
                    <a:p>
                      <a:pPr algn="l"/>
                      <a:r>
                        <a:rPr sz="1400" b="0">
                          <a:solidFill>
                            <a:srgbClr val="F4F7F2"/>
                          </a:solidFill>
                          <a:latin typeface="Arial"/>
                        </a:rPr>
                        <a:t>nothing</a:t>
                      </a:r>
                    </a:p>
                  </a:txBody>
                  <a:tcPr marL="73152" marR="73152" marT="27432" marB="27432" anchor="ctr">
                    <a:solidFill>
                      <a:srgbClr val="314539"/>
                    </a:solidFill>
                  </a:tcPr>
                </a:tc>
                <a:tc>
                  <a:txBody>
                    <a:bodyPr wrap="square"/>
                    <a:lstStyle/>
                    <a:p>
                      <a:pPr algn="ctr"/>
                      <a:r>
                        <a:rPr sz="1400" b="0">
                          <a:solidFill>
                            <a:srgbClr val="F4F7F2"/>
                          </a:solidFill>
                          <a:latin typeface="Arial"/>
                        </a:rPr>
                        <a:t>88 / 99 / 99</a:t>
                      </a:r>
                    </a:p>
                  </a:txBody>
                  <a:tcPr marL="73152" marR="73152" marT="27432" marB="27432" anchor="ctr">
                    <a:solidFill>
                      <a:srgbClr val="314539"/>
                    </a:solidFill>
                  </a:tcPr>
                </a:tc>
              </a:tr>
              <a:tr h="658368">
                <a:tc>
                  <a:txBody>
                    <a:bodyPr wrap="square"/>
                    <a:lstStyle/>
                    <a:p>
                      <a:pPr algn="l"/>
                      <a:r>
                        <a:rPr sz="1400" b="0">
                          <a:solidFill>
                            <a:srgbClr val="F4F7F2"/>
                          </a:solidFill>
                          <a:latin typeface="Arial"/>
                        </a:rPr>
                        <a:t>Smallest country that is at least one square mile in area?</a:t>
                      </a:r>
                    </a:p>
                  </a:txBody>
                  <a:tcPr marL="73152" marR="73152" marT="27432" marB="27432" anchor="ctr">
                    <a:solidFill>
                      <a:srgbClr val="3A5043"/>
                    </a:solidFill>
                  </a:tcPr>
                </a:tc>
                <a:tc>
                  <a:txBody>
                    <a:bodyPr wrap="square"/>
                    <a:lstStyle/>
                    <a:p>
                      <a:pPr algn="l"/>
                      <a:r>
                        <a:rPr sz="1400" b="0">
                          <a:solidFill>
                            <a:srgbClr val="F4F7F2"/>
                          </a:solidFill>
                          <a:latin typeface="Arial"/>
                        </a:rPr>
                        <a:t>“Vatican City”</a:t>
                      </a:r>
                    </a:p>
                  </a:txBody>
                  <a:tcPr marL="73152" marR="73152" marT="27432" marB="27432" anchor="ctr">
                    <a:solidFill>
                      <a:srgbClr val="3A5043"/>
                    </a:solidFill>
                  </a:tcPr>
                </a:tc>
                <a:tc>
                  <a:txBody>
                    <a:bodyPr wrap="square"/>
                    <a:lstStyle/>
                    <a:p>
                      <a:pPr algn="l"/>
                      <a:r>
                        <a:rPr sz="1400" b="0">
                          <a:solidFill>
                            <a:srgbClr val="F4F7F2"/>
                          </a:solidFill>
                          <a:latin typeface="Arial"/>
                        </a:rPr>
                        <a:t>Nauru</a:t>
                      </a:r>
                    </a:p>
                  </a:txBody>
                  <a:tcPr marL="73152" marR="73152" marT="27432" marB="27432" anchor="ctr">
                    <a:solidFill>
                      <a:srgbClr val="3A5043"/>
                    </a:solidFill>
                  </a:tcPr>
                </a:tc>
                <a:tc>
                  <a:txBody>
                    <a:bodyPr wrap="square"/>
                    <a:lstStyle/>
                    <a:p>
                      <a:pPr algn="ctr"/>
                      <a:r>
                        <a:rPr sz="1400" b="0">
                          <a:solidFill>
                            <a:srgbClr val="F4F7F2"/>
                          </a:solidFill>
                          <a:latin typeface="Arial"/>
                        </a:rPr>
                        <a:t>95 / 98 / 89</a:t>
                      </a:r>
                    </a:p>
                  </a:txBody>
                  <a:tcPr marL="73152" marR="73152" marT="27432" marB="27432" anchor="ctr">
                    <a:solidFill>
                      <a:srgbClr val="3A5043"/>
                    </a:solidFill>
                  </a:tcPr>
                </a:tc>
              </a:tr>
              <a:tr h="658368">
                <a:tc>
                  <a:txBody>
                    <a:bodyPr wrap="square"/>
                    <a:lstStyle/>
                    <a:p>
                      <a:pPr algn="l"/>
                      <a:r>
                        <a:rPr sz="1400" b="0">
                          <a:solidFill>
                            <a:srgbClr val="F4F7F2"/>
                          </a:solidFill>
                          <a:latin typeface="Arial"/>
                        </a:rPr>
                        <a:t>Where do people eat more beef than anywhere else?</a:t>
                      </a:r>
                    </a:p>
                  </a:txBody>
                  <a:tcPr marL="73152" marR="73152" marT="27432" marB="27432" anchor="ctr">
                    <a:solidFill>
                      <a:srgbClr val="314539"/>
                    </a:solidFill>
                  </a:tcPr>
                </a:tc>
                <a:tc>
                  <a:txBody>
                    <a:bodyPr wrap="square"/>
                    <a:lstStyle/>
                    <a:p>
                      <a:pPr algn="l"/>
                      <a:r>
                        <a:rPr sz="1400" b="0">
                          <a:solidFill>
                            <a:srgbClr val="F4F7F2"/>
                          </a:solidFill>
                          <a:latin typeface="Arial"/>
                        </a:rPr>
                        <a:t>“United States”</a:t>
                      </a:r>
                    </a:p>
                  </a:txBody>
                  <a:tcPr marL="73152" marR="73152" marT="27432" marB="27432" anchor="ctr">
                    <a:solidFill>
                      <a:srgbClr val="314539"/>
                    </a:solidFill>
                  </a:tcPr>
                </a:tc>
                <a:tc>
                  <a:txBody>
                    <a:bodyPr wrap="square"/>
                    <a:lstStyle/>
                    <a:p>
                      <a:pPr algn="l"/>
                      <a:r>
                        <a:rPr sz="1400" b="0">
                          <a:solidFill>
                            <a:srgbClr val="F4F7F2"/>
                          </a:solidFill>
                          <a:latin typeface="Arial"/>
                        </a:rPr>
                        <a:t>Argentina</a:t>
                      </a:r>
                    </a:p>
                  </a:txBody>
                  <a:tcPr marL="73152" marR="73152" marT="27432" marB="27432" anchor="ctr">
                    <a:solidFill>
                      <a:srgbClr val="314539"/>
                    </a:solidFill>
                  </a:tcPr>
                </a:tc>
                <a:tc>
                  <a:txBody>
                    <a:bodyPr wrap="square"/>
                    <a:lstStyle/>
                    <a:p>
                      <a:pPr algn="ctr"/>
                      <a:r>
                        <a:rPr sz="1400" b="0">
                          <a:solidFill>
                            <a:srgbClr val="F4F7F2"/>
                          </a:solidFill>
                          <a:latin typeface="Arial"/>
                        </a:rPr>
                        <a:t>98 / 99 / 86</a:t>
                      </a:r>
                    </a:p>
                  </a:txBody>
                  <a:tcPr marL="73152" marR="73152" marT="27432" marB="27432" anchor="ctr">
                    <a:solidFill>
                      <a:srgbClr val="314539"/>
                    </a:solidFill>
                  </a:tcPr>
                </a:tc>
              </a:tr>
            </a:tbl>
          </a:graphicData>
        </a:graphic>
      </p:graphicFrame>
      <p:sp>
        <p:nvSpPr>
          <p:cNvPr id="5" name="TextBox 4"/>
          <p:cNvSpPr txBox="1"/>
          <p:nvPr/>
        </p:nvSpPr>
        <p:spPr>
          <a:xfrm>
            <a:off x="1325880" y="4937760"/>
            <a:ext cx="9692640" cy="91440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11 test questions where all three models confidently repeat the same misconception; the four most confident are shown.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We tried hard to break this finding — it held</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10</a:t>
            </a:r>
          </a:p>
        </p:txBody>
      </p:sp>
      <p:sp>
        <p:nvSpPr>
          <p:cNvPr id="4" name="Rounded Rectangle 3"/>
          <p:cNvSpPr/>
          <p:nvPr/>
        </p:nvSpPr>
        <p:spPr>
          <a:xfrm>
            <a:off x="1325880" y="1280160"/>
            <a:ext cx="3931920" cy="484632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v3_robust.png"/>
          <p:cNvPicPr>
            <a:picLocks noChangeAspect="1"/>
          </p:cNvPicPr>
          <p:nvPr/>
        </p:nvPicPr>
        <p:blipFill>
          <a:blip r:embed="rId3"/>
          <a:stretch>
            <a:fillRect/>
          </a:stretch>
        </p:blipFill>
        <p:spPr>
          <a:xfrm>
            <a:off x="1435608" y="1444020"/>
            <a:ext cx="3712463" cy="4518599"/>
          </a:xfrm>
          <a:prstGeom prst="rect">
            <a:avLst/>
          </a:prstGeom>
        </p:spPr>
      </p:pic>
      <p:sp>
        <p:nvSpPr>
          <p:cNvPr id="6" name="Rounded Rectangle 5"/>
          <p:cNvSpPr/>
          <p:nvPr/>
        </p:nvSpPr>
        <p:spPr>
          <a:xfrm>
            <a:off x="5532120" y="1325880"/>
            <a:ext cx="5486400" cy="26060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715000" y="1417320"/>
            <a:ext cx="5120640" cy="457200"/>
          </a:xfrm>
          <a:prstGeom prst="rect">
            <a:avLst/>
          </a:prstGeom>
          <a:noFill/>
        </p:spPr>
        <p:txBody>
          <a:bodyPr wrap="square" anchor="t" lIns="45720" rIns="45720">
            <a:spAutoFit/>
          </a:bodyPr>
          <a:lstStyle/>
          <a:p>
            <a:pPr algn="l">
              <a:spcAft>
                <a:spcPts val="600"/>
              </a:spcAft>
            </a:pPr>
            <a:r>
              <a:rPr sz="1700" b="1" i="0">
                <a:solidFill>
                  <a:srgbClr val="A6D97E"/>
                </a:solidFill>
                <a:latin typeface="Arial"/>
              </a:rPr>
              <a:t>Held up (Qwen and SmolLM2)</a:t>
            </a:r>
          </a:p>
        </p:txBody>
      </p:sp>
      <p:sp>
        <p:nvSpPr>
          <p:cNvPr id="8" name="TextBox 7"/>
          <p:cNvSpPr txBox="1"/>
          <p:nvPr/>
        </p:nvSpPr>
        <p:spPr>
          <a:xfrm>
            <a:off x="5715000" y="1920240"/>
            <a:ext cx="5120640" cy="2331720"/>
          </a:xfrm>
          <a:prstGeom prst="rect">
            <a:avLst/>
          </a:prstGeom>
          <a:noFill/>
        </p:spPr>
        <p:txBody>
          <a:bodyPr wrap="square" anchor="t" lIns="45720" rIns="45720">
            <a:spAutoFit/>
          </a:bodyPr>
          <a:lstStyle/>
          <a:p>
            <a:pPr algn="l" marL="256032" indent="-201168">
              <a:spcAft>
                <a:spcPts val="500"/>
              </a:spcAft>
              <a:buChar char="•"/>
            </a:pPr>
            <a:r>
              <a:rPr sz="1400" b="0" i="0">
                <a:solidFill>
                  <a:srgbClr val="F4F7F2"/>
                </a:solidFill>
                <a:latin typeface="Arial"/>
              </a:rPr>
              <a:t>Same answer length, same difficulty, same topic</a:t>
            </a:r>
          </a:p>
          <a:p>
            <a:pPr algn="l" marL="256032" indent="-201168">
              <a:spcAft>
                <a:spcPts val="500"/>
              </a:spcAft>
              <a:buChar char="•"/>
            </a:pPr>
            <a:r>
              <a:rPr sz="1400" b="0" i="0">
                <a:solidFill>
                  <a:srgbClr val="F4F7F2"/>
                </a:solidFill>
                <a:latin typeface="Arial"/>
              </a:rPr>
              <a:t>Positive statements only (no “no” or “not”)</a:t>
            </a:r>
          </a:p>
          <a:p>
            <a:pPr algn="l" marL="256032" indent="-201168">
              <a:spcAft>
                <a:spcPts val="500"/>
              </a:spcAft>
              <a:buChar char="•"/>
            </a:pPr>
            <a:r>
              <a:rPr sz="1400" b="0" i="0">
                <a:solidFill>
                  <a:srgbClr val="F4F7F2"/>
                </a:solidFill>
                <a:latin typeface="Arial"/>
              </a:rPr>
              <a:t>A second, independent grader trained on human ratings</a:t>
            </a:r>
          </a:p>
          <a:p>
            <a:pPr algn="l" marL="256032" indent="-201168">
              <a:spcAft>
                <a:spcPts val="500"/>
              </a:spcAft>
              <a:buChar char="•"/>
            </a:pPr>
            <a:r>
              <a:rPr sz="1400" b="0" i="0">
                <a:solidFill>
                  <a:srgbClr val="F4F7F2"/>
                </a:solidFill>
                <a:latin typeface="Arial"/>
              </a:rPr>
              <a:t>A different prompt that allows “I don't know”</a:t>
            </a:r>
          </a:p>
          <a:p>
            <a:pPr algn="l" marL="256032" indent="-201168">
              <a:spcAft>
                <a:spcPts val="500"/>
              </a:spcAft>
              <a:buChar char="•"/>
            </a:pPr>
            <a:r>
              <a:rPr sz="1400" b="0" i="0">
                <a:solidFill>
                  <a:srgbClr val="F4F7F2"/>
                </a:solidFill>
                <a:latin typeface="Arial"/>
              </a:rPr>
              <a:t>A model twice as large (Qwen2.5-3B)</a:t>
            </a:r>
          </a:p>
        </p:txBody>
      </p:sp>
      <p:sp>
        <p:nvSpPr>
          <p:cNvPr id="9" name="Rounded Rectangle 8"/>
          <p:cNvSpPr/>
          <p:nvPr/>
        </p:nvSpPr>
        <p:spPr>
          <a:xfrm>
            <a:off x="5532120" y="4114800"/>
            <a:ext cx="5486400" cy="160020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715000" y="4206240"/>
            <a:ext cx="5120640" cy="1463040"/>
          </a:xfrm>
          <a:prstGeom prst="rect">
            <a:avLst/>
          </a:prstGeom>
          <a:noFill/>
        </p:spPr>
        <p:txBody>
          <a:bodyPr wrap="square" anchor="t" lIns="45720" rIns="45720">
            <a:spAutoFit/>
          </a:bodyPr>
          <a:lstStyle/>
          <a:p>
            <a:pPr algn="l">
              <a:spcAft>
                <a:spcPts val="500"/>
              </a:spcAft>
            </a:pPr>
            <a:r>
              <a:rPr sz="1700" b="1" i="0">
                <a:solidFill>
                  <a:srgbClr val="F6B26B"/>
                </a:solidFill>
                <a:latin typeface="Arial"/>
              </a:rPr>
              <a:t>Reported openly (Llama)</a:t>
            </a:r>
          </a:p>
          <a:p>
            <a:pPr algn="l">
              <a:spcAft>
                <a:spcPts val="500"/>
              </a:spcAft>
            </a:pPr>
            <a:r>
              <a:rPr sz="1400" b="0" i="0">
                <a:solidFill>
                  <a:srgbClr val="F4F7F2"/>
                </a:solidFill>
                <a:latin typeface="Arial"/>
              </a:rPr>
              <a:t>Llama's result depends on the grader: the two graders disagree on its long answers. A 120-question human check is prepared to settle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Insight: confidence mostly tracks question difficulty</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11</a:t>
            </a:r>
          </a:p>
        </p:txBody>
      </p:sp>
      <p:sp>
        <p:nvSpPr>
          <p:cNvPr id="4" name="Rounded Rectangle 3"/>
          <p:cNvSpPr/>
          <p:nvPr/>
        </p:nvSpPr>
        <p:spPr>
          <a:xfrm>
            <a:off x="1325880" y="1325880"/>
            <a:ext cx="5120640" cy="42062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v2_difficulty.png"/>
          <p:cNvPicPr>
            <a:picLocks noChangeAspect="1"/>
          </p:cNvPicPr>
          <p:nvPr/>
        </p:nvPicPr>
        <p:blipFill>
          <a:blip r:embed="rId3"/>
          <a:stretch>
            <a:fillRect/>
          </a:stretch>
        </p:blipFill>
        <p:spPr>
          <a:xfrm>
            <a:off x="1435608" y="1538543"/>
            <a:ext cx="4901183" cy="3780913"/>
          </a:xfrm>
          <a:prstGeom prst="rect">
            <a:avLst/>
          </a:prstGeom>
        </p:spPr>
      </p:pic>
      <p:sp>
        <p:nvSpPr>
          <p:cNvPr id="6" name="TextBox 5"/>
          <p:cNvSpPr txBox="1"/>
          <p:nvPr/>
        </p:nvSpPr>
        <p:spPr>
          <a:xfrm>
            <a:off x="6766560" y="1371600"/>
            <a:ext cx="4206240" cy="685800"/>
          </a:xfrm>
          <a:prstGeom prst="rect">
            <a:avLst/>
          </a:prstGeom>
          <a:noFill/>
        </p:spPr>
        <p:txBody>
          <a:bodyPr wrap="square" anchor="t" lIns="45720" rIns="45720">
            <a:spAutoFit/>
          </a:bodyPr>
          <a:lstStyle/>
          <a:p>
            <a:pPr algn="l">
              <a:spcAft>
                <a:spcPts val="600"/>
              </a:spcAft>
            </a:pPr>
            <a:r>
              <a:rPr sz="3400" b="1" i="0">
                <a:solidFill>
                  <a:srgbClr val="A6D97E"/>
                </a:solidFill>
                <a:latin typeface="Arial"/>
              </a:rPr>
              <a:t>0.77–0.82</a:t>
            </a:r>
          </a:p>
        </p:txBody>
      </p:sp>
      <p:sp>
        <p:nvSpPr>
          <p:cNvPr id="7" name="TextBox 6"/>
          <p:cNvSpPr txBox="1"/>
          <p:nvPr/>
        </p:nvSpPr>
        <p:spPr>
          <a:xfrm>
            <a:off x="6766560" y="2029967"/>
            <a:ext cx="420624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“how many other models got it wrong”: a strong difficulty signal</a:t>
            </a:r>
          </a:p>
        </p:txBody>
      </p:sp>
      <p:sp>
        <p:nvSpPr>
          <p:cNvPr id="8" name="TextBox 7"/>
          <p:cNvSpPr txBox="1"/>
          <p:nvPr/>
        </p:nvSpPr>
        <p:spPr>
          <a:xfrm>
            <a:off x="6766560" y="2697480"/>
            <a:ext cx="4206240" cy="685800"/>
          </a:xfrm>
          <a:prstGeom prst="rect">
            <a:avLst/>
          </a:prstGeom>
          <a:noFill/>
        </p:spPr>
        <p:txBody>
          <a:bodyPr wrap="square" anchor="t" lIns="45720" rIns="45720">
            <a:spAutoFit/>
          </a:bodyPr>
          <a:lstStyle/>
          <a:p>
            <a:pPr algn="l">
              <a:spcAft>
                <a:spcPts val="600"/>
              </a:spcAft>
            </a:pPr>
            <a:r>
              <a:rPr sz="3400" b="1" i="0">
                <a:solidFill>
                  <a:srgbClr val="F4F7F2"/>
                </a:solidFill>
                <a:latin typeface="Arial"/>
              </a:rPr>
              <a:t>0.55–0.66</a:t>
            </a:r>
          </a:p>
        </p:txBody>
      </p:sp>
      <p:sp>
        <p:nvSpPr>
          <p:cNvPr id="9" name="TextBox 8"/>
          <p:cNvSpPr txBox="1"/>
          <p:nvPr/>
        </p:nvSpPr>
        <p:spPr>
          <a:xfrm>
            <a:off x="6766560" y="3355848"/>
            <a:ext cx="420624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same question, different answers: wrong ones are less confident</a:t>
            </a:r>
          </a:p>
        </p:txBody>
      </p:sp>
      <p:sp>
        <p:nvSpPr>
          <p:cNvPr id="10" name="TextBox 9"/>
          <p:cNvSpPr txBox="1"/>
          <p:nvPr/>
        </p:nvSpPr>
        <p:spPr>
          <a:xfrm>
            <a:off x="6766560" y="4023360"/>
            <a:ext cx="4206240" cy="685800"/>
          </a:xfrm>
          <a:prstGeom prst="rect">
            <a:avLst/>
          </a:prstGeom>
          <a:noFill/>
        </p:spPr>
        <p:txBody>
          <a:bodyPr wrap="square" anchor="t" lIns="45720" rIns="45720">
            <a:spAutoFit/>
          </a:bodyPr>
          <a:lstStyle/>
          <a:p>
            <a:pPr algn="l">
              <a:spcAft>
                <a:spcPts val="600"/>
              </a:spcAft>
            </a:pPr>
            <a:r>
              <a:rPr sz="2800" b="1" i="0">
                <a:solidFill>
                  <a:srgbClr val="F6B26B"/>
                </a:solidFill>
                <a:latin typeface="Arial"/>
              </a:rPr>
              <a:t>Lesson</a:t>
            </a:r>
          </a:p>
        </p:txBody>
      </p:sp>
      <p:sp>
        <p:nvSpPr>
          <p:cNvPr id="11" name="TextBox 10"/>
          <p:cNvSpPr txBox="1"/>
          <p:nvPr/>
        </p:nvSpPr>
        <p:spPr>
          <a:xfrm>
            <a:off x="6766560" y="4681728"/>
            <a:ext cx="420624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pair confidence with a difficulty estimate for the best results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What this means in practice</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12</a:t>
            </a:r>
          </a:p>
        </p:txBody>
      </p:sp>
      <p:sp>
        <p:nvSpPr>
          <p:cNvPr id="4" name="Rounded Rectangle 3"/>
          <p:cNvSpPr/>
          <p:nvPr/>
        </p:nvSpPr>
        <p:spPr>
          <a:xfrm>
            <a:off x="1325880" y="1325880"/>
            <a:ext cx="5760720" cy="420624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ig_v3_coverage.png"/>
          <p:cNvPicPr>
            <a:picLocks noChangeAspect="1"/>
          </p:cNvPicPr>
          <p:nvPr/>
        </p:nvPicPr>
        <p:blipFill>
          <a:blip r:embed="rId3"/>
          <a:stretch>
            <a:fillRect/>
          </a:stretch>
        </p:blipFill>
        <p:spPr>
          <a:xfrm>
            <a:off x="1435608" y="1608298"/>
            <a:ext cx="5541264" cy="3641402"/>
          </a:xfrm>
          <a:prstGeom prst="rect">
            <a:avLst/>
          </a:prstGeom>
        </p:spPr>
      </p:pic>
      <p:sp>
        <p:nvSpPr>
          <p:cNvPr id="6" name="TextBox 5"/>
          <p:cNvSpPr txBox="1"/>
          <p:nvPr/>
        </p:nvSpPr>
        <p:spPr>
          <a:xfrm>
            <a:off x="7360919" y="1371600"/>
            <a:ext cx="3657600" cy="685800"/>
          </a:xfrm>
          <a:prstGeom prst="rect">
            <a:avLst/>
          </a:prstGeom>
          <a:noFill/>
        </p:spPr>
        <p:txBody>
          <a:bodyPr wrap="square" anchor="t" lIns="45720" rIns="45720">
            <a:spAutoFit/>
          </a:bodyPr>
          <a:lstStyle/>
          <a:p>
            <a:pPr algn="l">
              <a:spcAft>
                <a:spcPts val="600"/>
              </a:spcAft>
            </a:pPr>
            <a:r>
              <a:rPr sz="3400" b="1" i="0">
                <a:solidFill>
                  <a:srgbClr val="A6D97E"/>
                </a:solidFill>
                <a:latin typeface="Arial"/>
              </a:rPr>
              <a:t>28% → 24%</a:t>
            </a:r>
          </a:p>
        </p:txBody>
      </p:sp>
      <p:sp>
        <p:nvSpPr>
          <p:cNvPr id="7" name="TextBox 6"/>
          <p:cNvSpPr txBox="1"/>
          <p:nvPr/>
        </p:nvSpPr>
        <p:spPr>
          <a:xfrm>
            <a:off x="7360919" y="2029967"/>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science errors after skipping the 20% least confident answers (Qwen)</a:t>
            </a:r>
          </a:p>
        </p:txBody>
      </p:sp>
      <p:sp>
        <p:nvSpPr>
          <p:cNvPr id="8" name="TextBox 7"/>
          <p:cNvSpPr txBox="1"/>
          <p:nvPr/>
        </p:nvSpPr>
        <p:spPr>
          <a:xfrm>
            <a:off x="7360919" y="2697480"/>
            <a:ext cx="3657600" cy="685800"/>
          </a:xfrm>
          <a:prstGeom prst="rect">
            <a:avLst/>
          </a:prstGeom>
          <a:noFill/>
        </p:spPr>
        <p:txBody>
          <a:bodyPr wrap="square" anchor="t" lIns="45720" rIns="45720">
            <a:spAutoFit/>
          </a:bodyPr>
          <a:lstStyle/>
          <a:p>
            <a:pPr algn="l">
              <a:spcAft>
                <a:spcPts val="600"/>
              </a:spcAft>
            </a:pPr>
            <a:r>
              <a:rPr sz="3400" b="1" i="0">
                <a:solidFill>
                  <a:srgbClr val="F6B26B"/>
                </a:solidFill>
                <a:latin typeface="Arial"/>
              </a:rPr>
              <a:t>60% · 61%</a:t>
            </a:r>
          </a:p>
        </p:txBody>
      </p:sp>
      <p:sp>
        <p:nvSpPr>
          <p:cNvPr id="9" name="TextBox 8"/>
          <p:cNvSpPr txBox="1"/>
          <p:nvPr/>
        </p:nvSpPr>
        <p:spPr>
          <a:xfrm>
            <a:off x="7360919" y="3355848"/>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of the most confident misconception-trap answers are wrong (Qwen, SmolLM2)</a:t>
            </a:r>
          </a:p>
        </p:txBody>
      </p:sp>
      <p:sp>
        <p:nvSpPr>
          <p:cNvPr id="10" name="TextBox 9"/>
          <p:cNvSpPr txBox="1"/>
          <p:nvPr/>
        </p:nvSpPr>
        <p:spPr>
          <a:xfrm>
            <a:off x="7360919" y="4023360"/>
            <a:ext cx="3657600" cy="685800"/>
          </a:xfrm>
          <a:prstGeom prst="rect">
            <a:avLst/>
          </a:prstGeom>
          <a:noFill/>
        </p:spPr>
        <p:txBody>
          <a:bodyPr wrap="square" anchor="t" lIns="45720" rIns="45720">
            <a:spAutoFit/>
          </a:bodyPr>
          <a:lstStyle/>
          <a:p>
            <a:pPr algn="l">
              <a:spcAft>
                <a:spcPts val="600"/>
              </a:spcAft>
            </a:pPr>
            <a:r>
              <a:rPr sz="2800" b="1" i="0">
                <a:solidFill>
                  <a:srgbClr val="F4F7F2"/>
                </a:solidFill>
                <a:latin typeface="Arial"/>
              </a:rPr>
              <a:t>→ fact-check</a:t>
            </a:r>
          </a:p>
        </p:txBody>
      </p:sp>
      <p:sp>
        <p:nvSpPr>
          <p:cNvPr id="11" name="TextBox 10"/>
          <p:cNvSpPr txBox="1"/>
          <p:nvPr/>
        </p:nvSpPr>
        <p:spPr>
          <a:xfrm>
            <a:off x="7360919" y="4681728"/>
            <a:ext cx="3657600" cy="73152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confident misconceptions need an outside source, not more confidence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Live demo</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13</a:t>
            </a:r>
          </a:p>
        </p:txBody>
      </p:sp>
      <p:sp>
        <p:nvSpPr>
          <p:cNvPr id="4" name="Rounded Rectangle 3"/>
          <p:cNvSpPr/>
          <p:nvPr/>
        </p:nvSpPr>
        <p:spPr>
          <a:xfrm>
            <a:off x="1325880" y="1325880"/>
            <a:ext cx="6035040" cy="27432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demo_screenshot.png"/>
          <p:cNvPicPr>
            <a:picLocks noChangeAspect="1"/>
          </p:cNvPicPr>
          <p:nvPr/>
        </p:nvPicPr>
        <p:blipFill>
          <a:blip r:embed="rId3"/>
          <a:stretch>
            <a:fillRect/>
          </a:stretch>
        </p:blipFill>
        <p:spPr>
          <a:xfrm>
            <a:off x="1380744" y="1451283"/>
            <a:ext cx="5925312" cy="2492393"/>
          </a:xfrm>
          <a:prstGeom prst="rect">
            <a:avLst/>
          </a:prstGeom>
        </p:spPr>
      </p:pic>
      <p:sp>
        <p:nvSpPr>
          <p:cNvPr id="6" name="TextBox 5"/>
          <p:cNvSpPr txBox="1"/>
          <p:nvPr/>
        </p:nvSpPr>
        <p:spPr>
          <a:xfrm>
            <a:off x="1325880" y="4160520"/>
            <a:ext cx="6035040" cy="914400"/>
          </a:xfrm>
          <a:prstGeom prst="rect">
            <a:avLst/>
          </a:prstGeom>
          <a:noFill/>
        </p:spPr>
        <p:txBody>
          <a:bodyPr wrap="square" anchor="t" lIns="45720" rIns="45720">
            <a:spAutoFit/>
          </a:bodyPr>
          <a:lstStyle/>
          <a:p>
            <a:pPr algn="l">
              <a:spcAft>
                <a:spcPts val="600"/>
              </a:spcAft>
            </a:pPr>
            <a:r>
              <a:rPr sz="1300" b="0" i="0">
                <a:solidFill>
                  <a:srgbClr val="C2CFC5"/>
                </a:solidFill>
                <a:latin typeface="Arial"/>
              </a:rPr>
              <a:t>The demo app: a real test answer the grader marked wrong (a misconception), yet more confident than 82% of the model's answers.</a:t>
            </a:r>
          </a:p>
        </p:txBody>
      </p:sp>
      <p:sp>
        <p:nvSpPr>
          <p:cNvPr id="7" name="TextBox 6"/>
          <p:cNvSpPr txBox="1"/>
          <p:nvPr/>
        </p:nvSpPr>
        <p:spPr>
          <a:xfrm>
            <a:off x="7635240" y="1325880"/>
            <a:ext cx="3383280" cy="4846320"/>
          </a:xfrm>
          <a:prstGeom prst="rect">
            <a:avLst/>
          </a:prstGeom>
          <a:noFill/>
        </p:spPr>
        <p:txBody>
          <a:bodyPr wrap="square" anchor="t" lIns="45720" rIns="45720">
            <a:spAutoFit/>
          </a:bodyPr>
          <a:lstStyle/>
          <a:p>
            <a:pPr algn="l">
              <a:spcAft>
                <a:spcPts val="700"/>
              </a:spcAft>
            </a:pPr>
            <a:r>
              <a:rPr sz="1400" b="1" i="0">
                <a:solidFill>
                  <a:srgbClr val="A6D97E"/>
                </a:solidFill>
                <a:latin typeface="Arial"/>
              </a:rPr>
              <a:t>1. Run the system</a:t>
            </a:r>
          </a:p>
          <a:p>
            <a:pPr algn="l">
              <a:spcAft>
                <a:spcPts val="700"/>
              </a:spcAft>
            </a:pPr>
            <a:r>
              <a:rPr sz="1400" b="0" i="0">
                <a:solidFill>
                  <a:srgbClr val="F4F7F2"/>
                </a:solidFill>
                <a:latin typeface="Arial"/>
              </a:rPr>
              <a:t>All steps on 200 new questions, about 1 minute</a:t>
            </a:r>
          </a:p>
          <a:p>
            <a:pPr algn="l">
              <a:spcAft>
                <a:spcPts val="700"/>
              </a:spcAft>
            </a:pPr>
            <a:r>
              <a:rPr sz="1400" b="1" i="0">
                <a:solidFill>
                  <a:srgbClr val="A6D97E"/>
                </a:solidFill>
                <a:latin typeface="Arial"/>
              </a:rPr>
              <a:t>2. Ask the model</a:t>
            </a:r>
          </a:p>
          <a:p>
            <a:pPr algn="l">
              <a:spcAft>
                <a:spcPts val="700"/>
              </a:spcAft>
            </a:pPr>
            <a:r>
              <a:rPr sz="1400" b="0" i="0">
                <a:solidFill>
                  <a:srgbClr val="F4F7F2"/>
                </a:solidFill>
                <a:latin typeface="Arial"/>
              </a:rPr>
              <a:t>Live answer, word-by-word confidence colours, risk score</a:t>
            </a:r>
          </a:p>
          <a:p>
            <a:pPr algn="l">
              <a:spcAft>
                <a:spcPts val="700"/>
              </a:spcAft>
            </a:pPr>
            <a:r>
              <a:rPr sz="1400" b="1" i="0">
                <a:solidFill>
                  <a:srgbClr val="A6D97E"/>
                </a:solidFill>
                <a:latin typeface="Arial"/>
              </a:rPr>
              <a:t>3. Recorded answers</a:t>
            </a:r>
          </a:p>
          <a:p>
            <a:pPr algn="l">
              <a:spcAft>
                <a:spcPts val="700"/>
              </a:spcAft>
            </a:pPr>
            <a:r>
              <a:rPr sz="1400" b="0" i="0">
                <a:solidFill>
                  <a:srgbClr val="F4F7F2"/>
                </a:solidFill>
                <a:latin typeface="Arial"/>
              </a:rPr>
              <a:t>Browse graded test answers, e.g. confident mistakes</a:t>
            </a:r>
          </a:p>
          <a:p>
            <a:pPr algn="l">
              <a:spcAft>
                <a:spcPts val="700"/>
              </a:spcAft>
            </a:pPr>
            <a:r>
              <a:rPr sz="1300" b="1" i="0">
                <a:solidFill>
                  <a:srgbClr val="F6B26B"/>
                </a:solidFill>
                <a:latin typeface="Arial"/>
              </a:rPr>
              <a:t>python scripts/live_run.py</a:t>
            </a:r>
          </a:p>
          <a:p>
            <a:pPr algn="l">
              <a:spcAft>
                <a:spcPts val="700"/>
              </a:spcAft>
            </a:pPr>
            <a:r>
              <a:rPr sz="1300" b="1" i="0">
                <a:solidFill>
                  <a:srgbClr val="F6B26B"/>
                </a:solidFill>
                <a:latin typeface="Arial"/>
              </a:rPr>
              <a:t>python scripts/demo_app.py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Scope and next steps</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14</a:t>
            </a:r>
          </a:p>
        </p:txBody>
      </p:sp>
      <p:sp>
        <p:nvSpPr>
          <p:cNvPr id="4" name="Rounded Rectangle 3"/>
          <p:cNvSpPr/>
          <p:nvPr/>
        </p:nvSpPr>
        <p:spPr>
          <a:xfrm>
            <a:off x="1325880" y="1417320"/>
            <a:ext cx="4709160" cy="1874519"/>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554480" y="1554480"/>
            <a:ext cx="42976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Grading</a:t>
            </a:r>
          </a:p>
        </p:txBody>
      </p:sp>
      <p:sp>
        <p:nvSpPr>
          <p:cNvPr id="6" name="TextBox 5"/>
          <p:cNvSpPr txBox="1"/>
          <p:nvPr/>
        </p:nvSpPr>
        <p:spPr>
          <a:xfrm>
            <a:off x="1554480" y="2103120"/>
            <a:ext cx="4297680" cy="137160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AI grader, cross-checked by an independent grader (79–87% agreement). Next: a human check of 120 answers, already prepared.</a:t>
            </a:r>
          </a:p>
        </p:txBody>
      </p:sp>
      <p:sp>
        <p:nvSpPr>
          <p:cNvPr id="7" name="Rounded Rectangle 6"/>
          <p:cNvSpPr/>
          <p:nvPr/>
        </p:nvSpPr>
        <p:spPr>
          <a:xfrm>
            <a:off x="6309360" y="1417320"/>
            <a:ext cx="4709160" cy="1874519"/>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37960" y="1554480"/>
            <a:ext cx="42976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Model size</a:t>
            </a:r>
          </a:p>
        </p:txBody>
      </p:sp>
      <p:sp>
        <p:nvSpPr>
          <p:cNvPr id="9" name="TextBox 8"/>
          <p:cNvSpPr txBox="1"/>
          <p:nvPr/>
        </p:nvSpPr>
        <p:spPr>
          <a:xfrm>
            <a:off x="6537960" y="2103120"/>
            <a:ext cx="4297680" cy="137160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Three 1–2B models plus one 3B model, sized for a laptop GPU. Next: 7B and larger.</a:t>
            </a:r>
          </a:p>
        </p:txBody>
      </p:sp>
      <p:sp>
        <p:nvSpPr>
          <p:cNvPr id="10" name="Rounded Rectangle 9"/>
          <p:cNvSpPr/>
          <p:nvPr/>
        </p:nvSpPr>
        <p:spPr>
          <a:xfrm>
            <a:off x="1325880" y="3566160"/>
            <a:ext cx="4709160" cy="1874519"/>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54480" y="3703320"/>
            <a:ext cx="42976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Stress tests</a:t>
            </a:r>
          </a:p>
        </p:txBody>
      </p:sp>
      <p:sp>
        <p:nvSpPr>
          <p:cNvPr id="12" name="TextBox 11"/>
          <p:cNvSpPr txBox="1"/>
          <p:nvPr/>
        </p:nvSpPr>
        <p:spPr>
          <a:xfrm>
            <a:off x="1554480" y="4251960"/>
            <a:ext cx="4297680" cy="137160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Added after the main test: supporting evidence, reported in full.</a:t>
            </a:r>
          </a:p>
        </p:txBody>
      </p:sp>
      <p:sp>
        <p:nvSpPr>
          <p:cNvPr id="13" name="Rounded Rectangle 12"/>
          <p:cNvSpPr/>
          <p:nvPr/>
        </p:nvSpPr>
        <p:spPr>
          <a:xfrm>
            <a:off x="6309360" y="3566160"/>
            <a:ext cx="4709160" cy="1874519"/>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37960" y="3703320"/>
            <a:ext cx="4297680" cy="457200"/>
          </a:xfrm>
          <a:prstGeom prst="rect">
            <a:avLst/>
          </a:prstGeom>
          <a:noFill/>
        </p:spPr>
        <p:txBody>
          <a:bodyPr wrap="square" anchor="t" lIns="45720" rIns="45720">
            <a:spAutoFit/>
          </a:bodyPr>
          <a:lstStyle/>
          <a:p>
            <a:pPr algn="l">
              <a:spcAft>
                <a:spcPts val="600"/>
              </a:spcAft>
            </a:pPr>
            <a:r>
              <a:rPr sz="1900" b="1" i="0">
                <a:solidFill>
                  <a:srgbClr val="F6B26B"/>
                </a:solidFill>
                <a:latin typeface="Arial"/>
              </a:rPr>
              <a:t>Task</a:t>
            </a:r>
          </a:p>
        </p:txBody>
      </p:sp>
      <p:sp>
        <p:nvSpPr>
          <p:cNvPr id="15" name="TextBox 14"/>
          <p:cNvSpPr txBox="1"/>
          <p:nvPr/>
        </p:nvSpPr>
        <p:spPr>
          <a:xfrm>
            <a:off x="6537960" y="4251960"/>
            <a:ext cx="4297680" cy="137160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Short English question answering. Next: longer answers, retrieval-augmented systems.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1234439" y="347472"/>
            <a:ext cx="9966960" cy="822960"/>
          </a:xfrm>
          <a:prstGeom prst="rect">
            <a:avLst/>
          </a:prstGeom>
          <a:noFill/>
        </p:spPr>
        <p:txBody>
          <a:bodyPr wrap="square" anchor="ctr" lIns="45720" rIns="45720">
            <a:spAutoFit/>
          </a:bodyPr>
          <a:lstStyle/>
          <a:p>
            <a:pPr algn="l">
              <a:spcAft>
                <a:spcPts val="600"/>
              </a:spcAft>
            </a:pPr>
            <a:r>
              <a:rPr sz="3000" b="1" i="0">
                <a:solidFill>
                  <a:srgbClr val="F4F7F2"/>
                </a:solidFill>
                <a:latin typeface="Arial"/>
              </a:rPr>
              <a:t>What we contribute</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15</a:t>
            </a:r>
          </a:p>
        </p:txBody>
      </p:sp>
      <p:sp>
        <p:nvSpPr>
          <p:cNvPr id="4" name="Rounded Rectangle 3"/>
          <p:cNvSpPr/>
          <p:nvPr/>
        </p:nvSpPr>
        <p:spPr>
          <a:xfrm>
            <a:off x="1325880" y="1417320"/>
            <a:ext cx="3063240" cy="26060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508760" y="1600200"/>
            <a:ext cx="548640" cy="548640"/>
          </a:xfrm>
          <a:prstGeom prst="ellipse">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C2620"/>
                </a:solidFill>
                <a:latin typeface="Arial"/>
              </a:rPr>
              <a:t>1</a:t>
            </a:r>
          </a:p>
        </p:txBody>
      </p:sp>
      <p:sp>
        <p:nvSpPr>
          <p:cNvPr id="6" name="TextBox 5"/>
          <p:cNvSpPr txBox="1"/>
          <p:nvPr/>
        </p:nvSpPr>
        <p:spPr>
          <a:xfrm>
            <a:off x="2194560" y="1645920"/>
            <a:ext cx="2103120" cy="548640"/>
          </a:xfrm>
          <a:prstGeom prst="rect">
            <a:avLst/>
          </a:prstGeom>
          <a:noFill/>
        </p:spPr>
        <p:txBody>
          <a:bodyPr wrap="square" anchor="ctr" lIns="45720" rIns="45720">
            <a:spAutoFit/>
          </a:bodyPr>
          <a:lstStyle/>
          <a:p>
            <a:pPr algn="l">
              <a:spcAft>
                <a:spcPts val="600"/>
              </a:spcAft>
            </a:pPr>
            <a:r>
              <a:rPr sz="1800" b="1" i="0">
                <a:solidFill>
                  <a:srgbClr val="A6D97E"/>
                </a:solidFill>
                <a:latin typeface="Arial"/>
              </a:rPr>
              <a:t>Cheap detector</a:t>
            </a:r>
          </a:p>
        </p:txBody>
      </p:sp>
      <p:sp>
        <p:nvSpPr>
          <p:cNvPr id="7" name="TextBox 6"/>
          <p:cNvSpPr txBox="1"/>
          <p:nvPr/>
        </p:nvSpPr>
        <p:spPr>
          <a:xfrm>
            <a:off x="1508760" y="2377440"/>
            <a:ext cx="2697480" cy="201168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One call beats six; catches mistakes on trivia (up to 0.81) and science (about 0.7).</a:t>
            </a:r>
          </a:p>
        </p:txBody>
      </p:sp>
      <p:sp>
        <p:nvSpPr>
          <p:cNvPr id="8" name="Rounded Rectangle 7"/>
          <p:cNvSpPr/>
          <p:nvPr/>
        </p:nvSpPr>
        <p:spPr>
          <a:xfrm>
            <a:off x="4617720" y="1417320"/>
            <a:ext cx="3063240" cy="26060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4800600" y="1600200"/>
            <a:ext cx="548640" cy="548640"/>
          </a:xfrm>
          <a:prstGeom prst="ellipse">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C2620"/>
                </a:solidFill>
                <a:latin typeface="Arial"/>
              </a:rPr>
              <a:t>2</a:t>
            </a:r>
          </a:p>
        </p:txBody>
      </p:sp>
      <p:sp>
        <p:nvSpPr>
          <p:cNvPr id="10" name="TextBox 9"/>
          <p:cNvSpPr txBox="1"/>
          <p:nvPr/>
        </p:nvSpPr>
        <p:spPr>
          <a:xfrm>
            <a:off x="5486400" y="1645920"/>
            <a:ext cx="2103120" cy="548640"/>
          </a:xfrm>
          <a:prstGeom prst="rect">
            <a:avLst/>
          </a:prstGeom>
          <a:noFill/>
        </p:spPr>
        <p:txBody>
          <a:bodyPr wrap="square" anchor="ctr" lIns="45720" rIns="45720">
            <a:spAutoFit/>
          </a:bodyPr>
          <a:lstStyle/>
          <a:p>
            <a:pPr algn="l">
              <a:spcAft>
                <a:spcPts val="600"/>
              </a:spcAft>
            </a:pPr>
            <a:r>
              <a:rPr sz="1800" b="1" i="0">
                <a:solidFill>
                  <a:srgbClr val="A6D97E"/>
                </a:solidFill>
                <a:latin typeface="Arial"/>
              </a:rPr>
              <a:t>Key discovery</a:t>
            </a:r>
          </a:p>
        </p:txBody>
      </p:sp>
      <p:sp>
        <p:nvSpPr>
          <p:cNvPr id="11" name="TextBox 10"/>
          <p:cNvSpPr txBox="1"/>
          <p:nvPr/>
        </p:nvSpPr>
        <p:spPr>
          <a:xfrm>
            <a:off x="4800600" y="2377440"/>
            <a:ext cx="2697480" cy="201168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Learned misconceptions look like knowledge, to every confidence method.</a:t>
            </a:r>
          </a:p>
        </p:txBody>
      </p:sp>
      <p:sp>
        <p:nvSpPr>
          <p:cNvPr id="12" name="Rounded Rectangle 11"/>
          <p:cNvSpPr/>
          <p:nvPr/>
        </p:nvSpPr>
        <p:spPr>
          <a:xfrm>
            <a:off x="7909560" y="1417320"/>
            <a:ext cx="3063240" cy="260604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092440" y="1600200"/>
            <a:ext cx="548640" cy="548640"/>
          </a:xfrm>
          <a:prstGeom prst="ellipse">
            <a:avLst/>
          </a:prstGeom>
          <a:solidFill>
            <a:srgbClr val="A6D9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2000" b="1">
                <a:solidFill>
                  <a:srgbClr val="1C2620"/>
                </a:solidFill>
                <a:latin typeface="Arial"/>
              </a:rPr>
              <a:t>3</a:t>
            </a:r>
          </a:p>
        </p:txBody>
      </p:sp>
      <p:sp>
        <p:nvSpPr>
          <p:cNvPr id="14" name="TextBox 13"/>
          <p:cNvSpPr txBox="1"/>
          <p:nvPr/>
        </p:nvSpPr>
        <p:spPr>
          <a:xfrm>
            <a:off x="8778240" y="1645920"/>
            <a:ext cx="2103120" cy="548640"/>
          </a:xfrm>
          <a:prstGeom prst="rect">
            <a:avLst/>
          </a:prstGeom>
          <a:noFill/>
        </p:spPr>
        <p:txBody>
          <a:bodyPr wrap="square" anchor="ctr" lIns="45720" rIns="45720">
            <a:spAutoFit/>
          </a:bodyPr>
          <a:lstStyle/>
          <a:p>
            <a:pPr algn="l">
              <a:spcAft>
                <a:spcPts val="600"/>
              </a:spcAft>
            </a:pPr>
            <a:r>
              <a:rPr sz="1800" b="1" i="0">
                <a:solidFill>
                  <a:srgbClr val="A6D97E"/>
                </a:solidFill>
                <a:latin typeface="Arial"/>
              </a:rPr>
              <a:t>Rigorous system</a:t>
            </a:r>
          </a:p>
        </p:txBody>
      </p:sp>
      <p:sp>
        <p:nvSpPr>
          <p:cNvPr id="15" name="TextBox 14"/>
          <p:cNvSpPr txBox="1"/>
          <p:nvPr/>
        </p:nvSpPr>
        <p:spPr>
          <a:xfrm>
            <a:off x="8092440" y="2377440"/>
            <a:ext cx="2697480" cy="2011680"/>
          </a:xfrm>
          <a:prstGeom prst="rect">
            <a:avLst/>
          </a:prstGeom>
          <a:noFill/>
        </p:spPr>
        <p:txBody>
          <a:bodyPr wrap="square" anchor="t" lIns="45720" rIns="45720">
            <a:spAutoFit/>
          </a:bodyPr>
          <a:lstStyle/>
          <a:p>
            <a:pPr algn="l">
              <a:spcAft>
                <a:spcPts val="600"/>
              </a:spcAft>
            </a:pPr>
            <a:r>
              <a:rPr sz="1500" b="0" i="0">
                <a:solidFill>
                  <a:srgbClr val="F4F7F2"/>
                </a:solidFill>
                <a:latin typeface="Arial"/>
              </a:rPr>
              <a:t>Hidden bug fixed, predictions written first, 1,417 new questions, all code public.</a:t>
            </a:r>
          </a:p>
        </p:txBody>
      </p:sp>
      <p:sp>
        <p:nvSpPr>
          <p:cNvPr id="16" name="Rounded Rectangle 15"/>
          <p:cNvSpPr/>
          <p:nvPr/>
        </p:nvSpPr>
        <p:spPr>
          <a:xfrm>
            <a:off x="1325880" y="4297680"/>
            <a:ext cx="9692640" cy="1325880"/>
          </a:xfrm>
          <a:prstGeom prst="roundRect">
            <a:avLst>
              <a:gd name="adj" fmla="val 8000"/>
            </a:avLst>
          </a:prstGeom>
          <a:solidFill>
            <a:srgbClr val="3A50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600200" y="4370832"/>
            <a:ext cx="9144000" cy="1188720"/>
          </a:xfrm>
          <a:prstGeom prst="rect">
            <a:avLst/>
          </a:prstGeom>
          <a:noFill/>
        </p:spPr>
        <p:txBody>
          <a:bodyPr wrap="square" anchor="t" lIns="45720" rIns="45720">
            <a:spAutoFit/>
          </a:bodyPr>
          <a:lstStyle/>
          <a:p>
            <a:pPr algn="l">
              <a:spcAft>
                <a:spcPts val="600"/>
              </a:spcAft>
            </a:pPr>
            <a:r>
              <a:rPr sz="1500" b="1" i="0">
                <a:solidFill>
                  <a:srgbClr val="F6B26B"/>
                </a:solidFill>
                <a:latin typeface="Arial"/>
              </a:rPr>
              <a:t>Next: </a:t>
            </a:r>
            <a:r>
              <a:rPr sz="1500" b="0" i="0">
                <a:solidFill>
                  <a:srgbClr val="F4F7F2"/>
                </a:solidFill>
                <a:latin typeface="Arial"/>
              </a:rPr>
              <a:t>combine confidence with fact look-up (retrieval), human grading, and larger models.</a:t>
            </a:r>
          </a:p>
          <a:p>
            <a:pPr algn="l">
              <a:spcAft>
                <a:spcPts val="600"/>
              </a:spcAft>
            </a:pPr>
            <a:r>
              <a:rPr sz="1500" b="1" i="0">
                <a:solidFill>
                  <a:srgbClr val="A6D97E"/>
                </a:solidFill>
                <a:latin typeface="Arial"/>
              </a:rPr>
              <a:t>Paper: </a:t>
            </a:r>
            <a:r>
              <a:rPr sz="1500" b="0" i="0">
                <a:solidFill>
                  <a:srgbClr val="F4F7F2"/>
                </a:solidFill>
                <a:latin typeface="Arial"/>
              </a:rPr>
              <a:t>Learned Falsehoods Look Like Knowledge (IEEE format, 6 pages). </a:t>
            </a:r>
            <a:r>
              <a:rPr sz="1500" b="1" i="0">
                <a:solidFill>
                  <a:srgbClr val="A6D97E"/>
                </a:solidFill>
                <a:latin typeface="Arial"/>
              </a:rPr>
              <a:t>Code and data: </a:t>
            </a:r>
            <a:r>
              <a:rPr sz="1500" b="0" i="0">
                <a:solidFill>
                  <a:srgbClr val="F4F7F2"/>
                </a:solidFill>
                <a:latin typeface="Arial"/>
              </a:rPr>
              <a:t>github.com/gouthamkrishna404/hallucination-detection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0" y="0"/>
            <a:ext cx="12191695" cy="6858000"/>
          </a:xfrm>
          <a:prstGeom prst="rect">
            <a:avLst/>
          </a:prstGeom>
          <a:noFill/>
        </p:spPr>
        <p:txBody>
          <a:bodyPr wrap="square" anchor="ctr" lIns="45720" rIns="45720">
            <a:spAutoFit/>
          </a:bodyPr>
          <a:lstStyle/>
          <a:p>
            <a:pPr algn="ctr">
              <a:spcAft>
                <a:spcPts val="600"/>
              </a:spcAft>
            </a:pPr>
            <a:r>
              <a:rPr sz="3000" b="1" i="0">
                <a:solidFill>
                  <a:srgbClr val="F4F7F2"/>
                </a:solidFill>
                <a:latin typeface="Arial"/>
              </a:rPr>
              <a:t>Thank you</a:t>
            </a:r>
          </a:p>
        </p:txBody>
      </p:sp>
      <p:sp>
        <p:nvSpPr>
          <p:cNvPr id="3" name="Slide number"/>
          <p:cNvSpPr txBox="1"/>
          <p:nvPr/>
        </p:nvSpPr>
        <p:spPr>
          <a:xfrm>
            <a:off x="137160" y="6263640"/>
            <a:ext cx="685800" cy="365760"/>
          </a:xfrm>
          <a:prstGeom prst="rect">
            <a:avLst/>
          </a:prstGeom>
          <a:noFill/>
        </p:spPr>
        <p:txBody>
          <a:bodyPr wrap="square" anchor="t" lIns="45720" rIns="45720">
            <a:spAutoFit/>
          </a:bodyPr>
          <a:lstStyle/>
          <a:p>
            <a:pPr algn="ctr">
              <a:spcAft>
                <a:spcPts val="600"/>
              </a:spcAft>
            </a:pPr>
            <a:r>
              <a:rPr sz="1200" b="0" i="0">
                <a:solidFill>
                  <a:srgbClr val="C2CFC5"/>
                </a:solidFill>
                <a:latin typeface="Arial"/>
              </a:rPr>
              <a:t>16</a:t>
            </a:r>
          </a:p>
        </p:txBody>
      </p:sp>
    </p:spTree>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Madison">
  <a:themeElements>
    <a:clrScheme name="Madison">
      <a:dk1>
        <a:sysClr val="windowText" lastClr="000000"/>
      </a:dk1>
      <a:lt1>
        <a:sysClr val="window" lastClr="FFFFFF"/>
      </a:lt1>
      <a:dk2>
        <a:srgbClr val="1F2D29"/>
      </a:dk2>
      <a:lt2>
        <a:srgbClr val="C5FAEB"/>
      </a:lt2>
      <a:accent1>
        <a:srgbClr val="A1D68B"/>
      </a:accent1>
      <a:accent2>
        <a:srgbClr val="5EC795"/>
      </a:accent2>
      <a:accent3>
        <a:srgbClr val="4DADCF"/>
      </a:accent3>
      <a:accent4>
        <a:srgbClr val="CDB756"/>
      </a:accent4>
      <a:accent5>
        <a:srgbClr val="E29C36"/>
      </a:accent5>
      <a:accent6>
        <a:srgbClr val="8EC0C1"/>
      </a:accent6>
      <a:hlink>
        <a:srgbClr val="6D9D9B"/>
      </a:hlink>
      <a:folHlink>
        <a:srgbClr val="6D8583"/>
      </a:folHlink>
    </a:clrScheme>
    <a:fontScheme name="Madison">
      <a:majorFont>
        <a:latin typeface="Arial" panose="020B060402020202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panose="020B06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Madison">
      <a:fillStyleLst>
        <a:solidFill>
          <a:schemeClr val="phClr"/>
        </a:solidFill>
        <a:gradFill rotWithShape="1">
          <a:gsLst>
            <a:gs pos="0">
              <a:schemeClr val="phClr">
                <a:tint val="48000"/>
                <a:alpha val="88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4000"/>
                <a:satMod val="130000"/>
                <a:lumMod val="92000"/>
              </a:schemeClr>
            </a:gs>
            <a:gs pos="100000">
              <a:schemeClr val="phClr">
                <a:shade val="76000"/>
                <a:satMod val="130000"/>
                <a:lumMod val="88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blipFill rotWithShape="1">
          <a:blip xmlns:r="http://schemas.openxmlformats.org/officeDocument/2006/relationships" r:embed="rId1"/>
          <a:stretch/>
        </a:blipFill>
      </a:bgFillStyleLst>
    </a:fmtScheme>
  </a:themeElements>
  <a:objectDefaults/>
  <a:extraClrSchemeLst/>
  <a:extLst>
    <a:ext uri="{05A4C25C-085E-4340-85A3-A5531E510DB2}">
      <thm15:themeFamily xmlns:thm15="http://schemas.microsoft.com/office/thememl/2012/main" name="Madison" id="{025CB5FB-2DD3-45EE-B6F0-CC461540EB19}" vid="{6AC10936-2DFC-4054-9ADF-B5E2C5F8619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Madison</Template>
  <TotalTime>22</TotalTime>
  <Words>819</Words>
  <Application>Microsoft Office PowerPoint</Application>
  <PresentationFormat>Widescreen</PresentationFormat>
  <Paragraphs>102</Paragraphs>
  <Slides>13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13</vt:i4>
      </vt:variant>
    </vt:vector>
  </HeadingPairs>
  <TitlesOfParts>
    <vt:vector size="18" baseType="lpstr">
      <vt:lpstr>Arial</vt:lpstr>
      <vt:lpstr>MS Shell Dlg 2</vt:lpstr>
      <vt:lpstr>Wingdings</vt:lpstr>
      <vt:lpstr>Wingdings 3</vt:lpstr>
      <vt:lpstr>Madison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Goutham Krishna</dc:creator>
  <cp:keywords/>
  <dc:description>generated using python-pptx</dc:description>
  <cp:lastModifiedBy>Goutham Krishna</cp:lastModifiedBy>
  <cp:revision>2</cp:revision>
  <dcterms:created xsi:type="dcterms:W3CDTF">2013-01-27T09:14:16Z</dcterms:created>
  <dcterms:modified xsi:type="dcterms:W3CDTF">2026-08-21T09:02:06Z</dcterms:modified>
  <cp:category/>
</cp:coreProperties>
</file>